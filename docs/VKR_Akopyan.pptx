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78" r:id="rId2"/>
    <p:sldId id="279" r:id="rId3"/>
    <p:sldId id="286" r:id="rId4"/>
    <p:sldId id="267" r:id="rId5"/>
    <p:sldId id="257" r:id="rId6"/>
    <p:sldId id="258" r:id="rId7"/>
    <p:sldId id="270" r:id="rId8"/>
    <p:sldId id="275" r:id="rId9"/>
    <p:sldId id="261" r:id="rId10"/>
    <p:sldId id="281" r:id="rId11"/>
    <p:sldId id="282" r:id="rId12"/>
    <p:sldId id="283" r:id="rId13"/>
    <p:sldId id="272" r:id="rId14"/>
    <p:sldId id="276" r:id="rId15"/>
    <p:sldId id="284" r:id="rId16"/>
    <p:sldId id="285" r:id="rId1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4"/>
    <p:restoredTop sz="94715"/>
  </p:normalViewPr>
  <p:slideViewPr>
    <p:cSldViewPr snapToGrid="0">
      <p:cViewPr>
        <p:scale>
          <a:sx n="40" d="100"/>
          <a:sy n="40" d="100"/>
        </p:scale>
        <p:origin x="3480" y="19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8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F9D65B-AB03-5D3A-88CB-D6F808124A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A6FF2-5944-09B8-F428-8377CC881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B8A9F-C7D0-0B47-BC58-E2019D522CC9}" type="datetimeFigureOut">
              <a:rPr lang="en-RU" smtClean="0"/>
              <a:t>21.04.2026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B3DF7-EC0F-B2D9-1D89-CFC2FA2F49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1071D7-F1B7-0240-BCE5-071CC7FA7D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67A7D-1A71-2148-9E02-00609D242BD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893006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660EA-099B-A240-9518-7E76710A7947}" type="datetimeFigureOut">
              <a:rPr lang="en-RU" smtClean="0"/>
              <a:t>21.04.2026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D8913-456F-F94F-A439-6BF40B9873D9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0843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6070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2755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12891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40129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2998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044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8913-456F-F94F-A439-6BF40B9873D9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8385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290F-F5C2-4102-E8F7-81DF36B8C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AAE6C-A7B2-F67E-01E5-96A4FA790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C3AB1-625F-AB3B-8B93-63BB6632D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D013-22AF-4F46-B6F2-5644AA874C56}" type="datetime1">
              <a:rPr lang="ru-RU" smtClean="0"/>
              <a:t>21.04.2026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BFF7D-2AFE-85D0-35B4-F0EF113B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AD193-8AA6-7DA9-FF98-589BCE84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4815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02F8-FE80-1976-299A-245EF04A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4578-BEF1-D263-14CE-6C07553AE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A6641-C6B3-A3FD-436C-90DE1FFE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34EB8-88E3-5A40-B054-577781115F86}" type="datetime1">
              <a:rPr lang="ru-RU" smtClean="0"/>
              <a:t>21.04.2026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509CB-A85B-9ACC-ED18-5C7D2D24E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907AA-808F-2C3D-BD4D-E570351BD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2502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8B5C-B044-A2E7-AFF7-7C522A2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12BA9-1E4A-730B-8974-784CDABD6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23C18-4A36-B950-4FA4-DFE2FD14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98429-B570-0543-8DA1-3EE161E78E47}" type="datetime1">
              <a:rPr lang="ru-RU" smtClean="0"/>
              <a:t>21.04.2026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F6CE4-3375-1467-6BB3-D188C457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8612-3D5C-972F-504B-9615DACFC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30322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E9FB-8284-9265-2AC3-A471DB41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675D0-55B1-AE48-65A7-80487C2D8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7978C-7C72-6B33-B02A-D7038764F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A2663-30AF-0485-96F7-EEEF4EEEC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D711F-F3DF-CC43-B306-9E5700CA82EF}" type="datetime1">
              <a:rPr lang="ru-RU" smtClean="0"/>
              <a:t>21.04.2026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668AD-8BCA-3942-BAAD-D10875E3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2D5A7-3037-0B0E-0729-A4A52B98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99195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A019-7C91-B1DB-E490-EAC5C20A5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DFC3A-F9CD-8335-0E3A-E2E37DFE0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05507-D0E3-DB32-1A07-3DA768F09D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9594B-1F0B-0304-B06D-7A6C7D959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C3560-1A51-D1A6-6C49-F7EB0266B2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3AA55-7076-6725-CC20-FC04F513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2CCC5-2A50-4A47-91E4-0F97375E2504}" type="datetime1">
              <a:rPr lang="ru-RU" smtClean="0"/>
              <a:t>21.04.2026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F7A68-C62A-C2EF-F7C7-7FEFC4B23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5290C-DEF3-CE30-6626-DEE886A7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947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FA98-401B-2769-85C4-EBACB93E6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E0B84-A967-47AD-B241-3713D93E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60F50-31EF-8745-A8D5-6029E7F329D3}" type="datetime1">
              <a:rPr lang="ru-RU" smtClean="0"/>
              <a:t>21.04.2026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F1495-903D-624E-E630-0D96D37A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60A3D-EF5C-5BB3-A278-70F5F482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1083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5B460-48D3-B5FD-A8C7-7F085C22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4F11C-C98B-344C-A77B-FE8B0A12979D}" type="datetime1">
              <a:rPr lang="ru-RU" smtClean="0"/>
              <a:t>21.04.2026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0DF5D-CC4A-F98B-D01B-CC12D5C5A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B42C0-9598-558D-9C19-24826F23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04556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D248F-74F2-1F8E-09ED-77DB3FB53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4CDA6-9773-EFD9-2164-9D8D4DB63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B023A-ECA3-49D3-E051-D353687F9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ED992-72FE-F24E-AC13-B83A5516D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F0AD8-4507-A44C-8556-339AE8EBD0AE}" type="datetime1">
              <a:rPr lang="ru-RU" smtClean="0"/>
              <a:t>21.04.2026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1B835-FBC3-EE9B-69BC-0B0C3BA8A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4A8F4-E6D2-64B0-C4C5-911BE7B3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9457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74414-0DC0-9FAC-BD20-E9650F08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C12A64-DE33-644B-4E99-D08A54B42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9344A-6655-0F2B-2867-E8E1A9E8B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E7449-44E2-7C70-F641-E634FCBB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F2E-D1E1-5B4D-98D8-F8DFEBD29B56}" type="datetime1">
              <a:rPr lang="ru-RU" smtClean="0"/>
              <a:t>21.04.2026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184E8-4A2B-AB6D-B6AB-7AEBFD6A2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CF8DC-67CB-47BA-A811-D93DD7EC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6215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23E0A-1F6A-44AF-6AC5-A92848E0B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E435B-0EE3-D1CF-3A28-C16FE2F0E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3556B-1919-5C16-E223-817D04278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4887-FF30-2246-8040-2B437AF25E65}" type="datetime1">
              <a:rPr lang="ru-RU" smtClean="0"/>
              <a:t>21.04.2026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C6AFD-BF09-4BBF-50C5-36B60D5A9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F7760-EFB7-3D39-AB78-DC08BC39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241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4EB06-27FC-B143-CBD2-DAE5F5556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4E17A-614A-C1E5-FBA3-5DEF37598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4B22A-7538-A38E-51D4-A851960C0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D046D-2542-0C4F-ADCE-30F315DAC52D}" type="datetime1">
              <a:rPr lang="ru-RU" smtClean="0"/>
              <a:t>21.04.2026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343EE-44CC-A649-536F-D4878881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A3313-BFA3-A51B-416B-60849C06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16023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DA632D-8E18-19D1-31F1-37D3E357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4C572-18FA-F433-8979-841411030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FD057-8861-FB12-1694-1B90487C2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703EE-BA19-8A42-A763-0F56C1FC4BFD}" type="datetime1">
              <a:rPr lang="ru-RU" smtClean="0"/>
              <a:t>21.04.2026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C3C76-2E28-368A-5E62-F09498AE9B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FB696-EDBB-18F3-9FEA-5F19D0486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D69E0-A2D3-A140-A5F2-A7097627513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4039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DCC29-87DF-D90F-786C-9A7B35635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0</a:t>
            </a:fld>
            <a:endParaRPr lang="en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077382-6C46-7CEF-8107-4EC8FA4DB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516" y="136525"/>
            <a:ext cx="5668964" cy="2414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28CB8E-717A-9DEA-DEFD-496A0700E15C}"/>
              </a:ext>
            </a:extLst>
          </p:cNvPr>
          <p:cNvSpPr txBox="1"/>
          <p:nvPr/>
        </p:nvSpPr>
        <p:spPr>
          <a:xfrm>
            <a:off x="961901" y="3391101"/>
            <a:ext cx="103918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rgbClr val="000000"/>
                </a:solidFill>
                <a:effectLst/>
                <a:latin typeface="Helvetica" pitchFamily="2" charset="0"/>
              </a:rPr>
              <a:t>Разработка предиктивных алгоритмов </a:t>
            </a:r>
          </a:p>
          <a:p>
            <a:pPr algn="ctr"/>
            <a:r>
              <a:rPr lang="ru-RU" sz="3600" dirty="0">
                <a:solidFill>
                  <a:srgbClr val="000000"/>
                </a:solidFill>
                <a:effectLst/>
                <a:latin typeface="Helvetica" pitchFamily="2" charset="0"/>
              </a:rPr>
              <a:t>для анализа публикационной активности в </a:t>
            </a:r>
          </a:p>
          <a:p>
            <a:pPr algn="ctr"/>
            <a:r>
              <a:rPr lang="ru-RU" sz="3600" dirty="0">
                <a:solidFill>
                  <a:srgbClr val="000000"/>
                </a:solidFill>
                <a:effectLst/>
                <a:latin typeface="Helvetica" pitchFamily="2" charset="0"/>
              </a:rPr>
              <a:t>области высокопроизводительных вычислений</a:t>
            </a:r>
            <a:endParaRPr lang="en-RU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2238DC-DE4E-0499-6C53-C9314F8583A9}"/>
              </a:ext>
            </a:extLst>
          </p:cNvPr>
          <p:cNvSpPr txBox="1"/>
          <p:nvPr/>
        </p:nvSpPr>
        <p:spPr>
          <a:xfrm>
            <a:off x="2117832" y="2572153"/>
            <a:ext cx="79563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Helvetica" pitchFamily="2" charset="0"/>
              </a:rPr>
              <a:t>Московский государственный университет имени </a:t>
            </a:r>
            <a:r>
              <a:rPr lang="ru-RU" sz="1400" dirty="0" err="1">
                <a:latin typeface="Helvetica" pitchFamily="2" charset="0"/>
              </a:rPr>
              <a:t>М.В.Ломоносова</a:t>
            </a:r>
            <a:endParaRPr lang="ru-RU" sz="1400" dirty="0">
              <a:latin typeface="Helvetica" pitchFamily="2" charset="0"/>
            </a:endParaRPr>
          </a:p>
          <a:p>
            <a:pPr algn="ctr"/>
            <a:r>
              <a:rPr lang="ru-RU" sz="1400" dirty="0">
                <a:latin typeface="Helvetica" pitchFamily="2" charset="0"/>
              </a:rPr>
              <a:t>Факультет вычислительной математики и кибернетики</a:t>
            </a:r>
          </a:p>
          <a:p>
            <a:pPr algn="ctr"/>
            <a:r>
              <a:rPr lang="ru-RU" sz="1400" dirty="0">
                <a:latin typeface="Helvetica" pitchFamily="2" charset="0"/>
              </a:rPr>
              <a:t>Кафедра суперкомпьютеров и квантовой информатики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9F35C-5023-8400-50B1-16FF20319D12}"/>
              </a:ext>
            </a:extLst>
          </p:cNvPr>
          <p:cNvSpPr txBox="1"/>
          <p:nvPr/>
        </p:nvSpPr>
        <p:spPr>
          <a:xfrm>
            <a:off x="205032" y="5938747"/>
            <a:ext cx="10945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ffectLst/>
                <a:latin typeface="Helvetica" pitchFamily="2" charset="0"/>
              </a:rPr>
              <a:t>Акопян Микаэла Тиграновна,</a:t>
            </a:r>
          </a:p>
          <a:p>
            <a:r>
              <a:rPr lang="ru-RU" sz="2400" dirty="0">
                <a:solidFill>
                  <a:srgbClr val="000000"/>
                </a:solidFill>
                <a:effectLst/>
                <a:latin typeface="Helvetica" pitchFamily="2" charset="0"/>
              </a:rPr>
              <a:t>к.т.н. Григорьева Мария Александровна</a:t>
            </a:r>
          </a:p>
        </p:txBody>
      </p:sp>
    </p:spTree>
    <p:extLst>
      <p:ext uri="{BB962C8B-B14F-4D97-AF65-F5344CB8AC3E}">
        <p14:creationId xmlns:p14="http://schemas.microsoft.com/office/powerpoint/2010/main" val="343723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0A54-E54D-28C5-CA18-CA6815566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43763"/>
            <a:ext cx="10515600" cy="1325563"/>
          </a:xfrm>
        </p:spPr>
        <p:txBody>
          <a:bodyPr/>
          <a:lstStyle/>
          <a:p>
            <a:r>
              <a:rPr lang="ru-RU" dirty="0">
                <a:latin typeface="Helvetica" pitchFamily="2" charset="0"/>
              </a:rPr>
              <a:t>Цель работы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F5A-9C5C-6844-BBA9-3766B294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660"/>
            <a:ext cx="10515600" cy="2575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Helvetica" pitchFamily="2" charset="0"/>
              </a:rPr>
              <a:t>• Количество публикаций в области высокопроизводительных вычислений быстро растет вследствие популяризации машинного обучения.</a:t>
            </a:r>
          </a:p>
          <a:p>
            <a:pPr marL="0" indent="0">
              <a:buNone/>
            </a:pPr>
            <a:r>
              <a:rPr lang="ru-RU" sz="2400" dirty="0">
                <a:latin typeface="Helvetica" pitchFamily="2" charset="0"/>
              </a:rPr>
              <a:t>• Исследователю становится сложно вручную находить релевантные работы, близкие научные направления и подходящие площадки для публикации.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F76AA-6534-91F1-1611-C97DEA78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</a:t>
            </a:fld>
            <a:endParaRPr lang="en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C3C629-C419-F487-6934-2E79E5848541}"/>
              </a:ext>
            </a:extLst>
          </p:cNvPr>
          <p:cNvSpPr txBox="1">
            <a:spLocks/>
          </p:cNvSpPr>
          <p:nvPr/>
        </p:nvSpPr>
        <p:spPr>
          <a:xfrm>
            <a:off x="838200" y="1808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Helvetica" pitchFamily="2" charset="0"/>
              </a:rPr>
              <a:t>Актуальность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2717F02-2938-3112-DD0A-D748BB89876B}"/>
              </a:ext>
            </a:extLst>
          </p:cNvPr>
          <p:cNvSpPr txBox="1">
            <a:spLocks/>
          </p:cNvSpPr>
          <p:nvPr/>
        </p:nvSpPr>
        <p:spPr>
          <a:xfrm>
            <a:off x="838200" y="5030787"/>
            <a:ext cx="10515600" cy="1471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RU" sz="2400" dirty="0">
                <a:latin typeface="Helvetica" pitchFamily="2" charset="0"/>
              </a:rPr>
              <a:t>Разработать и исследовать метод рекомендации релевантных научных публикаций и изданий по краткому описанию работы в области высокопроизводительных вычислений.</a:t>
            </a:r>
          </a:p>
        </p:txBody>
      </p:sp>
    </p:spTree>
    <p:extLst>
      <p:ext uri="{BB962C8B-B14F-4D97-AF65-F5344CB8AC3E}">
        <p14:creationId xmlns:p14="http://schemas.microsoft.com/office/powerpoint/2010/main" val="180092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F5A-9C5C-6844-BBA9-3766B294D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8660"/>
            <a:ext cx="11060017" cy="4833836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Helvetica" pitchFamily="2" charset="0"/>
              </a:rPr>
              <a:t>Semantic Scholar </a:t>
            </a:r>
            <a:r>
              <a:rPr lang="ru-RU" sz="2400" b="0" i="0" dirty="0">
                <a:effectLst/>
                <a:latin typeface="Helvetica" pitchFamily="2" charset="0"/>
              </a:rPr>
              <a:t>предлагает персональные рекомендации статей на основе библиотеки пользователя и </a:t>
            </a:r>
            <a:r>
              <a:rPr lang="en-GB" sz="2400" b="0" i="0" dirty="0">
                <a:effectLst/>
                <a:latin typeface="Helvetica" pitchFamily="2" charset="0"/>
              </a:rPr>
              <a:t>paper embeddings.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Helvetica" pitchFamily="2" charset="0"/>
              </a:rPr>
              <a:t>Connected Papers </a:t>
            </a:r>
            <a:r>
              <a:rPr lang="ru-RU" sz="2400" b="0" i="0" dirty="0">
                <a:effectLst/>
                <a:latin typeface="Helvetica" pitchFamily="2" charset="0"/>
              </a:rPr>
              <a:t>и </a:t>
            </a:r>
            <a:r>
              <a:rPr lang="en-GB" sz="2400" b="0" i="0" dirty="0" err="1">
                <a:effectLst/>
                <a:latin typeface="Helvetica" pitchFamily="2" charset="0"/>
              </a:rPr>
              <a:t>ResearchRabbit</a:t>
            </a:r>
            <a:r>
              <a:rPr lang="en-GB" sz="2400" b="0" i="0" dirty="0">
                <a:effectLst/>
                <a:latin typeface="Helvetica" pitchFamily="2" charset="0"/>
              </a:rPr>
              <a:t> </a:t>
            </a:r>
            <a:r>
              <a:rPr lang="ru-RU" sz="2400" b="0" i="0" dirty="0">
                <a:effectLst/>
                <a:latin typeface="Helvetica" pitchFamily="2" charset="0"/>
              </a:rPr>
              <a:t>помогают находить тематически близкие работы и визуализировать связи между публикациями.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Helvetica" pitchFamily="2" charset="0"/>
              </a:rPr>
              <a:t>OpenAlex </a:t>
            </a:r>
            <a:r>
              <a:rPr lang="ru-RU" sz="2400" b="0" i="0" dirty="0">
                <a:effectLst/>
                <a:latin typeface="Helvetica" pitchFamily="2" charset="0"/>
              </a:rPr>
              <a:t>предоставляет связанные и семантически похожие работы</a:t>
            </a:r>
          </a:p>
          <a:p>
            <a:pPr marL="0" indent="0" algn="l">
              <a:buNone/>
            </a:pPr>
            <a:endParaRPr lang="ru-RU" sz="2400" b="0" i="0" dirty="0">
              <a:effectLst/>
              <a:latin typeface="Helvetica" pitchFamily="2" charset="0"/>
            </a:endParaRPr>
          </a:p>
          <a:p>
            <a:pPr marL="0" indent="0" algn="l">
              <a:buNone/>
            </a:pPr>
            <a:r>
              <a:rPr lang="ru-RU" sz="2400" b="0" i="0" dirty="0">
                <a:effectLst/>
                <a:latin typeface="Helvetica" pitchFamily="2" charset="0"/>
              </a:rPr>
              <a:t>Большинство существующих систем разрабатываются как универсальные инструменты для всех научных областей сразу. Из-за этого они опираются на общие признаки сходства и не учитывают специфику области высокопроизводительных вычислений, недостаточно точно различают такие темы и связи между ними.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F76AA-6534-91F1-1611-C97DEA78B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2</a:t>
            </a:fld>
            <a:endParaRPr lang="en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C3C629-C419-F487-6934-2E79E5848541}"/>
              </a:ext>
            </a:extLst>
          </p:cNvPr>
          <p:cNvSpPr txBox="1">
            <a:spLocks/>
          </p:cNvSpPr>
          <p:nvPr/>
        </p:nvSpPr>
        <p:spPr>
          <a:xfrm>
            <a:off x="838200" y="1808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Helvetica" pitchFamily="2" charset="0"/>
              </a:rPr>
              <a:t>Существующие подходы</a:t>
            </a:r>
            <a:endParaRPr lang="en-RU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275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36CA-7235-047D-9909-D05E0D826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713"/>
            <a:ext cx="10515600" cy="1325563"/>
          </a:xfrm>
        </p:spPr>
        <p:txBody>
          <a:bodyPr/>
          <a:lstStyle/>
          <a:p>
            <a:r>
              <a:rPr lang="ru-RU" dirty="0">
                <a:latin typeface="Helvetica" pitchFamily="2" charset="0"/>
              </a:rPr>
              <a:t>Задачи ВКР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8387F-EFF1-D157-5192-563C6F7CC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090"/>
            <a:ext cx="10861431" cy="5209199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Helvetica" pitchFamily="2" charset="0"/>
              </a:rPr>
              <a:t>Проанализировать существующие подходы к построению представлений научных публикаций и рекомендательных моделей.</a:t>
            </a:r>
          </a:p>
          <a:p>
            <a:r>
              <a:rPr lang="ru-RU" sz="2400" dirty="0">
                <a:latin typeface="Helvetica" pitchFamily="2" charset="0"/>
              </a:rPr>
              <a:t>Сформировать корпус научных публикаций в области </a:t>
            </a:r>
            <a:r>
              <a:rPr lang="en-US" sz="2400" dirty="0">
                <a:latin typeface="Helvetica" pitchFamily="2" charset="0"/>
              </a:rPr>
              <a:t>HPC</a:t>
            </a:r>
            <a:r>
              <a:rPr lang="ru-RU" sz="2400" dirty="0">
                <a:latin typeface="Helvetica" pitchFamily="2" charset="0"/>
              </a:rPr>
              <a:t>.</a:t>
            </a:r>
          </a:p>
          <a:p>
            <a:r>
              <a:rPr lang="ru-RU" sz="2400" dirty="0">
                <a:latin typeface="Helvetica" pitchFamily="2" charset="0"/>
              </a:rPr>
              <a:t>Исследовать способы адаптации модели эмбеддингов к корпусу публикаций в области </a:t>
            </a:r>
            <a:r>
              <a:rPr lang="en-GB" sz="2400" dirty="0">
                <a:latin typeface="Helvetica" pitchFamily="2" charset="0"/>
              </a:rPr>
              <a:t>HPC.</a:t>
            </a:r>
          </a:p>
          <a:p>
            <a:r>
              <a:rPr lang="ru-RU" sz="2400" dirty="0">
                <a:latin typeface="Helvetica" pitchFamily="2" charset="0"/>
              </a:rPr>
              <a:t>Дообучить модель эмбеддингов научных текстов на сформированном корпусе.</a:t>
            </a:r>
          </a:p>
          <a:p>
            <a:r>
              <a:rPr lang="ru-RU" sz="2400" dirty="0">
                <a:latin typeface="Helvetica" pitchFamily="2" charset="0"/>
              </a:rPr>
              <a:t>Разработать и реализовать нейросетевую модель ранжирования публикаций.</a:t>
            </a:r>
          </a:p>
          <a:p>
            <a:r>
              <a:rPr lang="ru-RU" sz="2400" dirty="0">
                <a:latin typeface="Helvetica" pitchFamily="2" charset="0"/>
              </a:rPr>
              <a:t>Провести экспериментальную оценку качества предложенного подхода.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C13421-5500-C834-0C17-6026A1B0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9975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2BFF-89DE-6A7A-1482-0604DBE3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Формальная постановка задачи ВКР</a:t>
            </a:r>
            <a:endParaRPr lang="en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0991B-EA72-29E8-3508-8D4C5B2BB4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0499"/>
                <a:ext cx="11075504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Дано: </a:t>
                </a:r>
                <a:r>
                  <a:rPr lang="ru-RU" sz="240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Предобученная модель эмбеддингов научных текстов: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000000"/>
                    </a:solidFill>
                    <a:effectLst/>
                    <a:latin typeface="Helvetica" pitchFamily="2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: 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GB" sz="2400" i="1" dirty="0" err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ℝ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ᵈ</m:t>
                    </m:r>
                  </m:oMath>
                </a14:m>
                <a:endParaRPr lang="ru-RU" sz="2400" i="1" dirty="0">
                  <a:solidFill>
                    <a:srgbClr val="000000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rgbClr val="000000"/>
                    </a:solidFill>
                    <a:latin typeface="Helvetica" pitchFamily="2" charset="0"/>
                  </a:rPr>
                  <a:t>Требуется: </a:t>
                </a: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адаптировать модель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 к корпусу публикаций в области </a:t>
                </a:r>
                <a:r>
                  <a:rPr lang="en-GB" sz="2400" dirty="0">
                    <a:solidFill>
                      <a:srgbClr val="000000"/>
                    </a:solidFill>
                    <a:latin typeface="Helvetica" pitchFamily="2" charset="0"/>
                  </a:rPr>
                  <a:t>HPC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2400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GB" sz="240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sz="2400" b="0" i="1" baseline="-250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 …, </m:t>
                        </m:r>
                        <m:r>
                          <a:rPr lang="en-GB" sz="24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sz="2400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ₙ</m:t>
                        </m:r>
                      </m:e>
                    </m:d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ᵢ = </m:t>
                    </m:r>
                    <m:d>
                      <m:dPr>
                        <m:ctrlPr>
                          <a:rPr lang="en-GB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ᵢ, </m:t>
                        </m:r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ᵢ, </m:t>
                        </m:r>
                        <m:r>
                          <a:rPr lang="en-GB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GB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ᵢ</m:t>
                        </m:r>
                      </m:e>
                    </m:d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где</a:t>
                </a:r>
                <a:r>
                  <a:rPr lang="en-US" sz="2400" dirty="0">
                    <a:solidFill>
                      <a:srgbClr val="000000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ᵢ 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Helvetica" pitchFamily="2" charset="0"/>
                  </a:rPr>
                  <a:t>—</a:t>
                </a: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 название,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ᵢ</m:t>
                    </m:r>
                    <m:r>
                      <m:rPr>
                        <m:nor/>
                      </m:rPr>
                      <a:rPr lang="ru-RU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—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 аннотация</a:t>
                </a:r>
                <a:r>
                  <a:rPr lang="en-US" sz="2400" dirty="0">
                    <a:solidFill>
                      <a:srgbClr val="000000"/>
                    </a:solidFill>
                    <a:latin typeface="Helvetica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ᵢ 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Helvetica" pitchFamily="2" charset="0"/>
                  </a:rPr>
                  <a:t>—</a:t>
                </a: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 авторы</a:t>
                </a:r>
                <a:r>
                  <a:rPr lang="en-US" sz="2400" dirty="0">
                    <a:solidFill>
                      <a:srgbClr val="000000"/>
                    </a:solidFill>
                    <a:latin typeface="Helvetica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en-GB" sz="2400" dirty="0">
                    <a:solidFill>
                      <a:srgbClr val="000000"/>
                    </a:solidFill>
                    <a:latin typeface="Helvetica" pitchFamily="2" charset="0"/>
                  </a:rPr>
                  <a:t> — </a:t>
                </a: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площадка</a:t>
                </a:r>
                <a:r>
                  <a:rPr lang="en-US" sz="2400" dirty="0">
                    <a:solidFill>
                      <a:srgbClr val="000000"/>
                    </a:solidFill>
                    <a:latin typeface="Helvetica" pitchFamily="2" charset="0"/>
                  </a:rPr>
                  <a:t> </a:t>
                </a: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публикации.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Разработать модель ранжирования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𝑅</m:t>
                    </m:r>
                    <m: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: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𝑆</m:t>
                    </m:r>
                    <m:r>
                      <a:rPr lang="en-US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×</m:t>
                    </m:r>
                    <m:r>
                      <a:rPr lang="en-US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𝐷</m:t>
                    </m:r>
                    <m:r>
                      <a:rPr lang="en-GB" sz="2400" dirty="0" smtClean="0">
                        <a:solidFill>
                          <a:srgbClr val="000000"/>
                        </a:solidFill>
                        <a:latin typeface="Helvetica" pitchFamily="2" charset="0"/>
                      </a:rPr>
                      <m:t>→</m:t>
                    </m:r>
                    <m: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ℝ</m:t>
                    </m:r>
                    <m:r>
                      <m:rPr>
                        <m:nor/>
                      </m:rP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ru-RU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 где </m:t>
                    </m:r>
                    <m: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𝑆</m:t>
                    </m:r>
                    <m:r>
                      <m:rPr>
                        <m:nor/>
                      </m:rPr>
                      <a:rPr lang="en-GB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 — </m:t>
                    </m:r>
                    <m:r>
                      <m:rPr>
                        <m:nor/>
                      </m:rPr>
                      <a:rPr lang="ru-RU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текстовое описание научной работы, а</m:t>
                    </m:r>
                    <m:r>
                      <a:rPr lang="en-US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 </m:t>
                    </m:r>
                    <m:sSub>
                      <m:sSubPr>
                        <m:ctrlPr>
                          <a:rPr lang="en-US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sz="2400" dirty="0">
                        <a:solidFill>
                          <a:srgbClr val="000000"/>
                        </a:solidFill>
                        <a:latin typeface="Helvetica" pitchFamily="2" charset="0"/>
                      </a:rPr>
                      <m:t>−</m:t>
                    </m:r>
                    <m:r>
                      <a:rPr lang="ru-RU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b="0" i="0" dirty="0">
                    <a:solidFill>
                      <a:srgbClr val="000000"/>
                    </a:solidFill>
                    <a:latin typeface="Helvetica" pitchFamily="2" charset="0"/>
                  </a:rPr>
                  <a:t>оценка близости</a:t>
                </a: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Для текстового запроса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∈ 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требуется получить: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𝑇𝑜𝑝</m:t>
                    </m:r>
                    <m:r>
                      <m:rPr>
                        <m:nor/>
                      </m:rPr>
                      <a:rPr lang="en-RU" sz="2400" i="1"/>
                      <m:t>-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GB" sz="2400" i="1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𝑡𝑜𝑝</m:t>
                    </m:r>
                    <m:r>
                      <m:rPr>
                        <m:nor/>
                      </m:rPr>
                      <a:rPr lang="en-RU" sz="2400" i="1"/>
                      <m:t>-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l-GR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ᵢ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400" dirty="0">
                    <a:solidFill>
                      <a:srgbClr val="000000"/>
                    </a:solidFill>
                    <a:latin typeface="Helvetica" pitchFamily="2" charset="0"/>
                  </a:rPr>
                  <a:t> ранжированный список релевантных публикаций и научных площадок.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0991B-EA72-29E8-3508-8D4C5B2BB4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0499"/>
                <a:ext cx="11075504" cy="5032376"/>
              </a:xfrm>
              <a:blipFill>
                <a:blip r:embed="rId2"/>
                <a:stretch>
                  <a:fillRect l="-917" t="-176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A0119-F179-49CA-644F-FB16130A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42041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1B78-8AB6-901B-C028-BA8DDEFC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Предложенный подход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2B87D-269E-6462-33E8-98B36590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5167"/>
            <a:ext cx="11244943" cy="50615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latin typeface="Helvetica" pitchFamily="2" charset="0"/>
              </a:rPr>
              <a:t>• В качестве базовой модели используется </a:t>
            </a:r>
            <a:r>
              <a:rPr lang="en-GB" sz="2400" dirty="0">
                <a:latin typeface="Helvetica" pitchFamily="2" charset="0"/>
              </a:rPr>
              <a:t>SPECTER — </a:t>
            </a:r>
            <a:r>
              <a:rPr lang="ru-RU" sz="2400" dirty="0">
                <a:latin typeface="Helvetica" pitchFamily="2" charset="0"/>
              </a:rPr>
              <a:t>предобученная модель эмбеддингов научных публикаций.</a:t>
            </a:r>
          </a:p>
          <a:p>
            <a:pPr marL="0" indent="0">
              <a:buNone/>
            </a:pPr>
            <a:r>
              <a:rPr lang="ru-RU" sz="2400" dirty="0">
                <a:latin typeface="Helvetica" pitchFamily="2" charset="0"/>
              </a:rPr>
              <a:t>• Корпус </a:t>
            </a:r>
            <a:r>
              <a:rPr lang="en-GB" sz="2400" dirty="0">
                <a:latin typeface="Helvetica" pitchFamily="2" charset="0"/>
              </a:rPr>
              <a:t>HPC-</a:t>
            </a:r>
            <a:r>
              <a:rPr lang="ru-RU" sz="2400" dirty="0">
                <a:latin typeface="Helvetica" pitchFamily="2" charset="0"/>
              </a:rPr>
              <a:t>публикаций формируется по данным </a:t>
            </a:r>
            <a:r>
              <a:rPr lang="en-GB" sz="2400" dirty="0">
                <a:latin typeface="Helvetica" pitchFamily="2" charset="0"/>
              </a:rPr>
              <a:t>arXiv </a:t>
            </a:r>
            <a:r>
              <a:rPr lang="ru-RU" sz="2400" dirty="0">
                <a:latin typeface="Helvetica" pitchFamily="2" charset="0"/>
              </a:rPr>
              <a:t>и дополняется метаданными из </a:t>
            </a:r>
            <a:r>
              <a:rPr lang="en-GB" sz="2400" dirty="0">
                <a:latin typeface="Helvetica" pitchFamily="2" charset="0"/>
              </a:rPr>
              <a:t>OpenAlex.</a:t>
            </a:r>
          </a:p>
          <a:p>
            <a:pPr marL="0" indent="0">
              <a:buNone/>
            </a:pPr>
            <a:r>
              <a:rPr lang="en-GB" sz="2400" dirty="0">
                <a:latin typeface="Helvetica" pitchFamily="2" charset="0"/>
              </a:rPr>
              <a:t>• </a:t>
            </a:r>
            <a:r>
              <a:rPr lang="ru-RU" sz="2400" dirty="0">
                <a:latin typeface="Helvetica" pitchFamily="2" charset="0"/>
              </a:rPr>
              <a:t>На основе цитирований и авторских связей формируются обучающие тройки:</a:t>
            </a:r>
          </a:p>
          <a:p>
            <a:pPr marL="0" indent="0">
              <a:buNone/>
            </a:pPr>
            <a:r>
              <a:rPr lang="ru-RU" sz="2400" dirty="0">
                <a:latin typeface="Helvetica" pitchFamily="2" charset="0"/>
              </a:rPr>
              <a:t>  </a:t>
            </a:r>
            <a:r>
              <a:rPr lang="en-GB" sz="2400" dirty="0">
                <a:latin typeface="Helvetica" pitchFamily="2" charset="0"/>
              </a:rPr>
              <a:t>query paper, positive paper, negative paper.</a:t>
            </a:r>
          </a:p>
          <a:p>
            <a:pPr marL="0" indent="0">
              <a:buNone/>
            </a:pPr>
            <a:r>
              <a:rPr lang="en-GB" sz="2400" dirty="0">
                <a:latin typeface="Helvetica" pitchFamily="2" charset="0"/>
              </a:rPr>
              <a:t>• </a:t>
            </a:r>
            <a:r>
              <a:rPr lang="ru-RU" sz="2400" dirty="0">
                <a:latin typeface="Helvetica" pitchFamily="2" charset="0"/>
              </a:rPr>
              <a:t>Модель </a:t>
            </a:r>
            <a:r>
              <a:rPr lang="en-GB" sz="2400" dirty="0">
                <a:latin typeface="Helvetica" pitchFamily="2" charset="0"/>
              </a:rPr>
              <a:t>SPECTER </a:t>
            </a:r>
            <a:r>
              <a:rPr lang="ru-RU" sz="2400" dirty="0">
                <a:latin typeface="Helvetica" pitchFamily="2" charset="0"/>
              </a:rPr>
              <a:t>дообучается на корпусе </a:t>
            </a:r>
            <a:r>
              <a:rPr lang="en-GB" sz="2400" dirty="0">
                <a:latin typeface="Helvetica" pitchFamily="2" charset="0"/>
              </a:rPr>
              <a:t>HPC </a:t>
            </a:r>
            <a:r>
              <a:rPr lang="ru-RU" sz="2400" dirty="0">
                <a:latin typeface="Helvetica" pitchFamily="2" charset="0"/>
              </a:rPr>
              <a:t>с использованием </a:t>
            </a:r>
            <a:r>
              <a:rPr lang="en-GB" sz="2400" dirty="0">
                <a:latin typeface="Helvetica" pitchFamily="2" charset="0"/>
              </a:rPr>
              <a:t>triplet loss.</a:t>
            </a:r>
          </a:p>
          <a:p>
            <a:pPr marL="0" indent="0">
              <a:buNone/>
            </a:pPr>
            <a:r>
              <a:rPr lang="en-GB" sz="2400" dirty="0">
                <a:latin typeface="Helvetica" pitchFamily="2" charset="0"/>
              </a:rPr>
              <a:t>• </a:t>
            </a:r>
            <a:r>
              <a:rPr lang="ru-RU" sz="2400" dirty="0">
                <a:latin typeface="Helvetica" pitchFamily="2" charset="0"/>
              </a:rPr>
              <a:t>Для текстового запроса </a:t>
            </a:r>
            <a:r>
              <a:rPr lang="en-GB" sz="2400" dirty="0">
                <a:latin typeface="Helvetica" pitchFamily="2" charset="0"/>
              </a:rPr>
              <a:t>q </a:t>
            </a:r>
            <a:r>
              <a:rPr lang="ru-RU" sz="2400" dirty="0">
                <a:latin typeface="Helvetica" pitchFamily="2" charset="0"/>
              </a:rPr>
              <a:t>и публикации </a:t>
            </a:r>
            <a:r>
              <a:rPr lang="en-GB" sz="2400" dirty="0">
                <a:latin typeface="Helvetica" pitchFamily="2" charset="0"/>
              </a:rPr>
              <a:t>dᵢ </a:t>
            </a:r>
            <a:r>
              <a:rPr lang="ru-RU" sz="2400" dirty="0">
                <a:latin typeface="Helvetica" pitchFamily="2" charset="0"/>
              </a:rPr>
              <a:t>строятся эмбеддинги</a:t>
            </a:r>
          </a:p>
          <a:p>
            <a:pPr marL="0" indent="0">
              <a:buNone/>
            </a:pPr>
            <a:r>
              <a:rPr lang="en-GB" sz="2400" dirty="0">
                <a:latin typeface="Helvetica" pitchFamily="2" charset="0"/>
              </a:rPr>
              <a:t>• </a:t>
            </a:r>
            <a:r>
              <a:rPr lang="ru-RU" sz="2400" dirty="0">
                <a:latin typeface="Helvetica" pitchFamily="2" charset="0"/>
              </a:rPr>
              <a:t>Ранжирующая нейросеть вычисляет оценку близости</a:t>
            </a:r>
          </a:p>
          <a:p>
            <a:pPr marL="0" indent="0">
              <a:buNone/>
            </a:pPr>
            <a:r>
              <a:rPr lang="en-GB" sz="2400" dirty="0">
                <a:latin typeface="Helvetica" pitchFamily="2" charset="0"/>
              </a:rPr>
              <a:t>• </a:t>
            </a:r>
            <a:r>
              <a:rPr lang="ru-RU" sz="2400" dirty="0">
                <a:latin typeface="Helvetica" pitchFamily="2" charset="0"/>
              </a:rPr>
              <a:t>По оценкам формируется </a:t>
            </a:r>
            <a:r>
              <a:rPr lang="en-GB" sz="2400" dirty="0">
                <a:latin typeface="Helvetica" pitchFamily="2" charset="0"/>
              </a:rPr>
              <a:t>Top-k </a:t>
            </a:r>
            <a:r>
              <a:rPr lang="ru-RU" sz="2400" dirty="0">
                <a:latin typeface="Helvetica" pitchFamily="2" charset="0"/>
              </a:rPr>
              <a:t>публикаций, а затем список рекомендуемых площадок.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52666-FC4B-5175-7BFB-72D07E00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40823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1B78-8AB6-901B-C028-BA8DDEFC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Сбор данных по H</a:t>
            </a:r>
            <a:r>
              <a:rPr lang="en-US" dirty="0">
                <a:latin typeface="Helvetica" pitchFamily="2" charset="0"/>
              </a:rPr>
              <a:t>PC</a:t>
            </a:r>
            <a:endParaRPr lang="en-RU" dirty="0">
              <a:latin typeface="Helvetic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0B9F6-2BB1-D9CA-16B5-71C5A3E245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869"/>
          <a:stretch/>
        </p:blipFill>
        <p:spPr>
          <a:xfrm>
            <a:off x="2209800" y="3429000"/>
            <a:ext cx="7772400" cy="3429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2B87D-269E-6462-33E8-98B36590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5793"/>
            <a:ext cx="10515600" cy="4821182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Основные источники данны</a:t>
            </a:r>
            <a:r>
              <a:rPr lang="en-US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х</a:t>
            </a:r>
            <a:r>
              <a:rPr lang="ru-RU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:</a:t>
            </a:r>
            <a:r>
              <a:rPr lang="ru-RU" sz="2400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n-GB" sz="2400" dirty="0">
                <a:solidFill>
                  <a:srgbClr val="000000"/>
                </a:solidFill>
                <a:effectLst/>
                <a:latin typeface="Helvetica" pitchFamily="2" charset="0"/>
              </a:rPr>
              <a:t>arXiv.org</a:t>
            </a:r>
            <a:r>
              <a:rPr lang="ru-RU" sz="2400" dirty="0">
                <a:solidFill>
                  <a:srgbClr val="000000"/>
                </a:solidFill>
                <a:latin typeface="Helvetica" pitchFamily="2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GB" sz="2400" dirty="0">
                <a:solidFill>
                  <a:srgbClr val="000000"/>
                </a:solidFill>
                <a:effectLst/>
                <a:latin typeface="Helvetica" pitchFamily="2" charset="0"/>
              </a:rPr>
              <a:t>OpenAlex</a:t>
            </a:r>
          </a:p>
          <a:p>
            <a:r>
              <a:rPr lang="ru-RU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Объём и структура данных:</a:t>
            </a:r>
            <a:r>
              <a:rPr lang="ru-RU" sz="2400" dirty="0">
                <a:solidFill>
                  <a:srgbClr val="000000"/>
                </a:solidFill>
                <a:effectLst/>
                <a:latin typeface="Helvetica" pitchFamily="2" charset="0"/>
              </a:rPr>
              <a:t> 290 853 записей за 2000–2025 годы</a:t>
            </a:r>
          </a:p>
          <a:p>
            <a:r>
              <a:rPr lang="ru-RU" sz="2400" b="1" dirty="0">
                <a:solidFill>
                  <a:srgbClr val="000000"/>
                </a:solidFill>
                <a:effectLst/>
                <a:latin typeface="Helvetica" pitchFamily="2" charset="0"/>
              </a:rPr>
              <a:t>25 характеристик каждой публикации:</a:t>
            </a:r>
            <a:r>
              <a:rPr lang="ru-RU" sz="2400" dirty="0">
                <a:solidFill>
                  <a:srgbClr val="000000"/>
                </a:solidFill>
                <a:effectLst/>
                <a:latin typeface="Helvetica" pitchFamily="2" charset="0"/>
              </a:rPr>
              <a:t> год, авторы, площадка, ключевые слова, цитирования, тематические концепты, </a:t>
            </a:r>
            <a:r>
              <a:rPr lang="en-GB" sz="2400" dirty="0">
                <a:solidFill>
                  <a:srgbClr val="000000"/>
                </a:solidFill>
                <a:effectLst/>
                <a:latin typeface="Helvetica" pitchFamily="2" charset="0"/>
              </a:rPr>
              <a:t>SDGs (</a:t>
            </a:r>
            <a:r>
              <a:rPr lang="ru-RU" sz="2400" dirty="0">
                <a:solidFill>
                  <a:srgbClr val="000000"/>
                </a:solidFill>
                <a:effectLst/>
                <a:latin typeface="Helvetica" pitchFamily="2" charset="0"/>
              </a:rPr>
              <a:t>цели устойчивого развития) и др.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52666-FC4B-5175-7BFB-72D07E00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4281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1B78-8AB6-901B-C028-BA8DDEFC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Графовое представление</a:t>
            </a:r>
            <a:r>
              <a:rPr lang="en-US" dirty="0">
                <a:latin typeface="Helvetica" pitchFamily="2" charset="0"/>
              </a:rPr>
              <a:t> с</a:t>
            </a:r>
            <a:r>
              <a:rPr lang="ru-RU" dirty="0" err="1">
                <a:latin typeface="Helvetica" pitchFamily="2" charset="0"/>
              </a:rPr>
              <a:t>вязей</a:t>
            </a:r>
            <a:r>
              <a:rPr lang="ru-RU" dirty="0">
                <a:latin typeface="Helvetica" pitchFamily="2" charset="0"/>
              </a:rPr>
              <a:t> между публикациями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E57B47-15FD-C477-ED50-84FBBCC4DDDE}"/>
              </a:ext>
            </a:extLst>
          </p:cNvPr>
          <p:cNvSpPr/>
          <p:nvPr/>
        </p:nvSpPr>
        <p:spPr>
          <a:xfrm>
            <a:off x="348343" y="2943242"/>
            <a:ext cx="5573486" cy="37603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U" dirty="0">
              <a:solidFill>
                <a:schemeClr val="accent6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00265A-B3F4-1027-A81C-CA71DE346795}"/>
              </a:ext>
            </a:extLst>
          </p:cNvPr>
          <p:cNvSpPr/>
          <p:nvPr/>
        </p:nvSpPr>
        <p:spPr>
          <a:xfrm>
            <a:off x="6270172" y="2943242"/>
            <a:ext cx="5573486" cy="37603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58D81C-0892-1BBD-12CD-F8FA9D2CB88B}"/>
              </a:ext>
            </a:extLst>
          </p:cNvPr>
          <p:cNvSpPr/>
          <p:nvPr/>
        </p:nvSpPr>
        <p:spPr>
          <a:xfrm>
            <a:off x="743221" y="3842221"/>
            <a:ext cx="876234" cy="876234"/>
          </a:xfrm>
          <a:prstGeom prst="ellips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d</a:t>
            </a:r>
            <a:r>
              <a:rPr lang="en-US" b="1" baseline="-250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1</a:t>
            </a:r>
            <a:endParaRPr lang="en-RU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CBBA78-D595-5C9F-1FF6-0DC44E08E755}"/>
              </a:ext>
            </a:extLst>
          </p:cNvPr>
          <p:cNvSpPr/>
          <p:nvPr/>
        </p:nvSpPr>
        <p:spPr>
          <a:xfrm>
            <a:off x="4024780" y="3404104"/>
            <a:ext cx="876234" cy="876234"/>
          </a:xfrm>
          <a:prstGeom prst="ellips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d</a:t>
            </a:r>
            <a:r>
              <a:rPr lang="en-US" b="1" baseline="-250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2</a:t>
            </a:r>
            <a:endParaRPr lang="en-RU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5A767B-7C5E-E7AB-1A3D-B9D41965E6A1}"/>
              </a:ext>
            </a:extLst>
          </p:cNvPr>
          <p:cNvSpPr/>
          <p:nvPr/>
        </p:nvSpPr>
        <p:spPr>
          <a:xfrm>
            <a:off x="4392737" y="5546131"/>
            <a:ext cx="876234" cy="876234"/>
          </a:xfrm>
          <a:prstGeom prst="ellips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d</a:t>
            </a:r>
            <a:r>
              <a:rPr lang="en-US" b="1" baseline="-250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3</a:t>
            </a:r>
            <a:endParaRPr lang="en-RU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2A4426-74C7-3B55-2A54-72DF29572B20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 flipV="1">
            <a:off x="1619455" y="3842221"/>
            <a:ext cx="2405325" cy="438117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260374-E02C-9267-A280-C7E0A1A72E6A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4462897" y="4280338"/>
            <a:ext cx="367957" cy="1265793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290171-2791-C1B3-117F-6DBAA45BAF1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1491134" y="4590134"/>
            <a:ext cx="2901603" cy="1423813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iamond 33">
            <a:extLst>
              <a:ext uri="{FF2B5EF4-FFF2-40B4-BE49-F238E27FC236}">
                <a16:creationId xmlns:a16="http://schemas.microsoft.com/office/drawing/2014/main" id="{1850C4BF-4423-E651-C7DA-DEF4E7B4E120}"/>
              </a:ext>
            </a:extLst>
          </p:cNvPr>
          <p:cNvSpPr/>
          <p:nvPr/>
        </p:nvSpPr>
        <p:spPr>
          <a:xfrm>
            <a:off x="7695382" y="3287293"/>
            <a:ext cx="953907" cy="953907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A</a:t>
            </a:r>
            <a:r>
              <a:rPr lang="en-US" b="1" baseline="-250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1</a:t>
            </a:r>
            <a:endParaRPr lang="en-RU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A4067147-324E-714F-D3ED-3C6B715A69AE}"/>
              </a:ext>
            </a:extLst>
          </p:cNvPr>
          <p:cNvSpPr/>
          <p:nvPr/>
        </p:nvSpPr>
        <p:spPr>
          <a:xfrm>
            <a:off x="9727652" y="3232720"/>
            <a:ext cx="953907" cy="953907"/>
          </a:xfrm>
          <a:prstGeom prst="diamond">
            <a:avLst/>
          </a:prstGeom>
          <a:solidFill>
            <a:schemeClr val="tx2">
              <a:lumMod val="40000"/>
              <a:lumOff val="6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A</a:t>
            </a:r>
            <a:r>
              <a:rPr lang="en-US" b="1" baseline="-250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2</a:t>
            </a:r>
            <a:endParaRPr lang="en-RU" b="1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163A01A-24FB-4D89-534B-C218E258BA7D}"/>
              </a:ext>
            </a:extLst>
          </p:cNvPr>
          <p:cNvSpPr/>
          <p:nvPr/>
        </p:nvSpPr>
        <p:spPr>
          <a:xfrm>
            <a:off x="8407476" y="5619574"/>
            <a:ext cx="876234" cy="876234"/>
          </a:xfrm>
          <a:prstGeom prst="ellips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d</a:t>
            </a:r>
            <a:r>
              <a:rPr lang="en-US" b="1" baseline="-25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2</a:t>
            </a:r>
            <a:endParaRPr lang="en-RU" b="1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15D720-EBCF-E7AB-703B-FC1D01B6FF5C}"/>
              </a:ext>
            </a:extLst>
          </p:cNvPr>
          <p:cNvSpPr/>
          <p:nvPr/>
        </p:nvSpPr>
        <p:spPr>
          <a:xfrm>
            <a:off x="7064620" y="4590134"/>
            <a:ext cx="876234" cy="876234"/>
          </a:xfrm>
          <a:prstGeom prst="ellips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d</a:t>
            </a:r>
            <a:r>
              <a:rPr lang="en-US" b="1" baseline="-25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1</a:t>
            </a:r>
            <a:endParaRPr lang="en-RU" b="1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DC31DA4-0286-885B-F650-F710DD4A43C4}"/>
              </a:ext>
            </a:extLst>
          </p:cNvPr>
          <p:cNvSpPr/>
          <p:nvPr/>
        </p:nvSpPr>
        <p:spPr>
          <a:xfrm>
            <a:off x="10125567" y="5094044"/>
            <a:ext cx="876234" cy="876234"/>
          </a:xfrm>
          <a:prstGeom prst="ellipse">
            <a:avLst/>
          </a:prstGeom>
          <a:ln w="2857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d</a:t>
            </a:r>
            <a:r>
              <a:rPr lang="en-US" b="1" baseline="-250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3</a:t>
            </a:r>
            <a:endParaRPr lang="en-RU" b="1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73E5782-DFB5-296A-C8C5-779DBFE18AD0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7502737" y="4025429"/>
            <a:ext cx="403037" cy="564705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0B48BFB-3EF0-F148-BCED-B20965324C3E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8437131" y="4033418"/>
            <a:ext cx="408462" cy="1586156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2E5E484-32A0-AC3A-99D9-2A949341F5CF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8845593" y="3926373"/>
            <a:ext cx="1078363" cy="1693201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500EBF-8672-8E41-7E94-C38807F4F522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10500800" y="3926373"/>
            <a:ext cx="62884" cy="1167671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51463D8-6B22-2B1F-8EA1-FE0C3242794C}"/>
              </a:ext>
            </a:extLst>
          </p:cNvPr>
          <p:cNvCxnSpPr>
            <a:cxnSpLocks/>
            <a:stCxn id="37" idx="5"/>
          </p:cNvCxnSpPr>
          <p:nvPr/>
        </p:nvCxnSpPr>
        <p:spPr>
          <a:xfrm>
            <a:off x="7812533" y="5338047"/>
            <a:ext cx="633293" cy="571855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C910545-6100-C823-2B33-7320685CC2F8}"/>
              </a:ext>
            </a:extLst>
          </p:cNvPr>
          <p:cNvCxnSpPr>
            <a:cxnSpLocks/>
            <a:stCxn id="36" idx="6"/>
          </p:cNvCxnSpPr>
          <p:nvPr/>
        </p:nvCxnSpPr>
        <p:spPr>
          <a:xfrm flipV="1">
            <a:off x="9283710" y="5692595"/>
            <a:ext cx="887884" cy="3650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9B30E16-560C-FDBD-1CBC-11191FD8DE6D}"/>
              </a:ext>
            </a:extLst>
          </p:cNvPr>
          <p:cNvCxnSpPr>
            <a:cxnSpLocks/>
            <a:stCxn id="37" idx="6"/>
          </p:cNvCxnSpPr>
          <p:nvPr/>
        </p:nvCxnSpPr>
        <p:spPr>
          <a:xfrm>
            <a:off x="7940854" y="5028251"/>
            <a:ext cx="2230740" cy="31753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52666-FC4B-5175-7BFB-72D07E00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7</a:t>
            </a:fld>
            <a:endParaRPr lang="en-RU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19E8253-DAB8-9403-7367-E24D7E4FDFE6}"/>
              </a:ext>
            </a:extLst>
          </p:cNvPr>
          <p:cNvSpPr txBox="1"/>
          <p:nvPr/>
        </p:nvSpPr>
        <p:spPr>
          <a:xfrm>
            <a:off x="6514502" y="2070224"/>
            <a:ext cx="54056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Helvetica" pitchFamily="2" charset="0"/>
              </a:rPr>
              <a:t>Предложенный дополнительный граф авторства: </a:t>
            </a:r>
          </a:p>
          <a:p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близкие</a:t>
            </a:r>
            <a:r>
              <a:rPr lang="ru-RU" sz="1600" dirty="0">
                <a:latin typeface="Helvetica" pitchFamily="2" charset="0"/>
              </a:rPr>
              <a:t>: статьи, связанные через авторство</a:t>
            </a:r>
          </a:p>
          <a:p>
            <a:r>
              <a:rPr lang="ru-RU" sz="16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далёкие</a:t>
            </a:r>
            <a:r>
              <a:rPr lang="ru-RU" sz="1600" dirty="0">
                <a:latin typeface="Helvetica" pitchFamily="2" charset="0"/>
              </a:rPr>
              <a:t>: статьи, связанные через соавторство</a:t>
            </a:r>
            <a:endParaRPr lang="en-RU" sz="1600" dirty="0">
              <a:latin typeface="Helvetica" pitchFamily="2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E9534BF-8C5F-AAFC-38D6-15EC5F203C27}"/>
              </a:ext>
            </a:extLst>
          </p:cNvPr>
          <p:cNvSpPr txBox="1"/>
          <p:nvPr/>
        </p:nvSpPr>
        <p:spPr>
          <a:xfrm>
            <a:off x="253538" y="2067008"/>
            <a:ext cx="5376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latin typeface="Helvetica" pitchFamily="2" charset="0"/>
              </a:rPr>
              <a:t>Оригинальный граф цитирования: </a:t>
            </a:r>
          </a:p>
          <a:p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Helvetica" pitchFamily="2" charset="0"/>
              </a:rPr>
              <a:t>близкие</a:t>
            </a:r>
            <a:r>
              <a:rPr lang="ru-RU" sz="1600" dirty="0">
                <a:latin typeface="Helvetica" pitchFamily="2" charset="0"/>
              </a:rPr>
              <a:t>: статьи, связанные цитированием напрямую</a:t>
            </a:r>
          </a:p>
          <a:p>
            <a:r>
              <a:rPr lang="ru-RU" sz="16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далёкие</a:t>
            </a:r>
            <a:r>
              <a:rPr lang="ru-RU" sz="1600" dirty="0">
                <a:latin typeface="Helvetica" pitchFamily="2" charset="0"/>
              </a:rPr>
              <a:t>: статьи, связанные через одно цитирование</a:t>
            </a:r>
            <a:endParaRPr lang="en-RU" sz="16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49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39782-F7B5-3F80-FA02-E6FC9FCE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>
                <a:latin typeface="Helvetica" pitchFamily="2" charset="0"/>
              </a:rPr>
              <a:t>8</a:t>
            </a:fld>
            <a:endParaRPr lang="en-RU">
              <a:latin typeface="Helvetica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8A730-9663-C8C4-0975-68365754A5CB}"/>
              </a:ext>
            </a:extLst>
          </p:cNvPr>
          <p:cNvSpPr/>
          <p:nvPr/>
        </p:nvSpPr>
        <p:spPr>
          <a:xfrm>
            <a:off x="909577" y="1829983"/>
            <a:ext cx="3194613" cy="7523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Query paper</a:t>
            </a:r>
            <a:endParaRPr lang="en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215BC-DFF2-1BD4-6222-C71C2839C3E9}"/>
              </a:ext>
            </a:extLst>
          </p:cNvPr>
          <p:cNvSpPr/>
          <p:nvPr/>
        </p:nvSpPr>
        <p:spPr>
          <a:xfrm>
            <a:off x="4498693" y="1813750"/>
            <a:ext cx="3194613" cy="7523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Related paper</a:t>
            </a:r>
            <a:endParaRPr lang="en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587320-FFFD-C595-688E-7760379341E0}"/>
              </a:ext>
            </a:extLst>
          </p:cNvPr>
          <p:cNvSpPr/>
          <p:nvPr/>
        </p:nvSpPr>
        <p:spPr>
          <a:xfrm>
            <a:off x="8087808" y="1813749"/>
            <a:ext cx="3194613" cy="7523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Unrelated paper</a:t>
            </a:r>
            <a:endParaRPr lang="en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E976097-4CC6-FC5A-EC43-F581B63A4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Helvetica" pitchFamily="2" charset="0"/>
              </a:rPr>
              <a:t>Основная идея обучения </a:t>
            </a:r>
            <a:r>
              <a:rPr lang="en-US" dirty="0">
                <a:latin typeface="Helvetica" pitchFamily="2" charset="0"/>
              </a:rPr>
              <a:t>SPECTER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436A6D-FE89-9122-DA77-4CA7E5B840E9}"/>
              </a:ext>
            </a:extLst>
          </p:cNvPr>
          <p:cNvSpPr/>
          <p:nvPr/>
        </p:nvSpPr>
        <p:spPr>
          <a:xfrm>
            <a:off x="2447544" y="3059519"/>
            <a:ext cx="7296912" cy="85953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Helvetica" pitchFamily="2" charset="0"/>
              </a:rPr>
              <a:t>Transformer (initialized with SciBERT) </a:t>
            </a:r>
            <a:endParaRPr lang="en-RU" sz="2400" dirty="0">
              <a:latin typeface="Helvetica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089DD-39F1-62BA-B2CC-BCAE2F31E856}"/>
              </a:ext>
            </a:extLst>
          </p:cNvPr>
          <p:cNvSpPr/>
          <p:nvPr/>
        </p:nvSpPr>
        <p:spPr>
          <a:xfrm>
            <a:off x="909577" y="4406571"/>
            <a:ext cx="3194613" cy="7523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Emb(Query paper) (P</a:t>
            </a:r>
            <a:r>
              <a:rPr lang="en-US" sz="20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Q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)</a:t>
            </a:r>
            <a:endParaRPr lang="en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1472E5-A50B-96BE-B5C5-617B63D55C96}"/>
              </a:ext>
            </a:extLst>
          </p:cNvPr>
          <p:cNvSpPr/>
          <p:nvPr/>
        </p:nvSpPr>
        <p:spPr>
          <a:xfrm>
            <a:off x="4498693" y="4406571"/>
            <a:ext cx="3194613" cy="75235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E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mb(Related paper) (P</a:t>
            </a:r>
            <a:r>
              <a:rPr lang="en-US" sz="20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+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)</a:t>
            </a:r>
            <a:endParaRPr lang="en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403FDB-4F47-4366-F3E4-6D5604A79263}"/>
              </a:ext>
            </a:extLst>
          </p:cNvPr>
          <p:cNvSpPr/>
          <p:nvPr/>
        </p:nvSpPr>
        <p:spPr>
          <a:xfrm>
            <a:off x="8087809" y="4406571"/>
            <a:ext cx="3194613" cy="7523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Emb(Unrelated paper) (P</a:t>
            </a:r>
            <a:r>
              <a:rPr lang="en-US" sz="2000" baseline="30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-</a:t>
            </a:r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" pitchFamily="2" charset="0"/>
              </a:rPr>
              <a:t>)</a:t>
            </a:r>
            <a:endParaRPr lang="en-RU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elvetica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E27D6D31-EAC5-8038-1171-6D388089AEF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77051" y="1695938"/>
            <a:ext cx="477181" cy="2217516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5A77DCE-881D-9D26-CB66-8D9BD7551CC9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6096000" y="2566105"/>
            <a:ext cx="0" cy="49341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BA6CF1FD-4FC0-4E8E-43EB-6D6E2ED01207}"/>
              </a:ext>
            </a:extLst>
          </p:cNvPr>
          <p:cNvCxnSpPr>
            <a:cxnSpLocks/>
          </p:cNvCxnSpPr>
          <p:nvPr/>
        </p:nvCxnSpPr>
        <p:spPr>
          <a:xfrm rot="5400000">
            <a:off x="8310601" y="1674494"/>
            <a:ext cx="493415" cy="2255615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FC7E7C-98C4-6EAB-F9F7-610DD9157F3D}"/>
              </a:ext>
            </a:extLst>
          </p:cNvPr>
          <p:cNvCxnSpPr/>
          <p:nvPr/>
        </p:nvCxnSpPr>
        <p:spPr>
          <a:xfrm>
            <a:off x="6095999" y="3913157"/>
            <a:ext cx="0" cy="49341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Curved Connector 50">
            <a:extLst>
              <a:ext uri="{FF2B5EF4-FFF2-40B4-BE49-F238E27FC236}">
                <a16:creationId xmlns:a16="http://schemas.microsoft.com/office/drawing/2014/main" id="{36B0FE61-8139-A473-E2A1-9FBF63A4FE8D}"/>
              </a:ext>
            </a:extLst>
          </p:cNvPr>
          <p:cNvCxnSpPr>
            <a:cxnSpLocks/>
          </p:cNvCxnSpPr>
          <p:nvPr/>
        </p:nvCxnSpPr>
        <p:spPr>
          <a:xfrm rot="5400000">
            <a:off x="3328643" y="3041185"/>
            <a:ext cx="493415" cy="2255615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2B9F9405-FCA8-624B-3F4A-7C6516ABAECA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97107" y="3065121"/>
            <a:ext cx="477181" cy="2217516"/>
          </a:xfrm>
          <a:prstGeom prst="curvedConnector2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F50E7A3B-45D6-C6EF-CE28-6296BF149BDC}"/>
              </a:ext>
            </a:extLst>
          </p:cNvPr>
          <p:cNvSpPr txBox="1"/>
          <p:nvPr/>
        </p:nvSpPr>
        <p:spPr>
          <a:xfrm>
            <a:off x="3483868" y="5610172"/>
            <a:ext cx="5738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>
                <a:latin typeface="Helvetica" pitchFamily="2" charset="0"/>
              </a:rPr>
              <a:t>Triplet loss = max </a:t>
            </a:r>
            <a:r>
              <a:rPr lang="en-US" dirty="0">
                <a:latin typeface="Helvetica" pitchFamily="2" charset="0"/>
              </a:rPr>
              <a:t>{(d(P</a:t>
            </a:r>
            <a:r>
              <a:rPr lang="en-US" baseline="30000" dirty="0">
                <a:latin typeface="Helvetica" pitchFamily="2" charset="0"/>
              </a:rPr>
              <a:t>Q</a:t>
            </a:r>
            <a:r>
              <a:rPr lang="en-US" dirty="0">
                <a:latin typeface="Helvetica" pitchFamily="2" charset="0"/>
              </a:rPr>
              <a:t> , P</a:t>
            </a:r>
            <a:r>
              <a:rPr lang="en-US" baseline="30000" dirty="0">
                <a:latin typeface="Helvetica" pitchFamily="2" charset="0"/>
              </a:rPr>
              <a:t>+</a:t>
            </a:r>
            <a:r>
              <a:rPr lang="en-US" dirty="0">
                <a:latin typeface="Helvetica" pitchFamily="2" charset="0"/>
              </a:rPr>
              <a:t>) - d(P</a:t>
            </a:r>
            <a:r>
              <a:rPr lang="en-US" baseline="30000" dirty="0">
                <a:latin typeface="Helvetica" pitchFamily="2" charset="0"/>
              </a:rPr>
              <a:t>Q</a:t>
            </a:r>
            <a:r>
              <a:rPr lang="en-US" dirty="0">
                <a:latin typeface="Helvetica" pitchFamily="2" charset="0"/>
              </a:rPr>
              <a:t> , P</a:t>
            </a:r>
            <a:r>
              <a:rPr lang="en-US" baseline="30000" dirty="0">
                <a:latin typeface="Helvetica" pitchFamily="2" charset="0"/>
              </a:rPr>
              <a:t>-</a:t>
            </a:r>
            <a:r>
              <a:rPr lang="en-US" dirty="0">
                <a:latin typeface="Helvetica" pitchFamily="2" charset="0"/>
              </a:rPr>
              <a:t>) + margin), 0}</a:t>
            </a:r>
            <a:endParaRPr lang="en-RU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55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1B78-8AB6-901B-C028-BA8DDEFC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4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Helvetica" pitchFamily="2" charset="0"/>
              </a:rPr>
              <a:t>Сравнение качества модели до и после дообучения, оригинальный датасет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52666-FC4B-5175-7BFB-72D07E00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9</a:t>
            </a:fld>
            <a:endParaRPr lang="en-R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C07EAA-5B4E-0724-7EBE-63A1146BBA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04" b="3093"/>
          <a:stretch/>
        </p:blipFill>
        <p:spPr>
          <a:xfrm>
            <a:off x="1580344" y="2108580"/>
            <a:ext cx="9031311" cy="441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92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F1B78-8AB6-901B-C028-BA8DDEFC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406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Helvetica" pitchFamily="2" charset="0"/>
              </a:rPr>
              <a:t>Сравнение качества модели до и после дообучения, датасет </a:t>
            </a:r>
            <a:r>
              <a:rPr lang="en-US" dirty="0">
                <a:latin typeface="Helvetica" pitchFamily="2" charset="0"/>
              </a:rPr>
              <a:t>HPC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52666-FC4B-5175-7BFB-72D07E00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10</a:t>
            </a:fld>
            <a:endParaRPr lang="en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F89F0-F00A-A2CC-B061-6A4AED1B36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46" b="3214"/>
          <a:stretch/>
        </p:blipFill>
        <p:spPr>
          <a:xfrm>
            <a:off x="1996545" y="2220159"/>
            <a:ext cx="8198908" cy="430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5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2AD8-5883-A729-ABA2-EA4F4AF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Рекомендательная нейросеть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0A19D-0E18-2A28-8AEC-8741377E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11</a:t>
            </a:fld>
            <a:endParaRPr lang="en-RU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E2D5E5-C533-3D23-68EE-785463B7C342}"/>
              </a:ext>
            </a:extLst>
          </p:cNvPr>
          <p:cNvSpPr/>
          <p:nvPr/>
        </p:nvSpPr>
        <p:spPr>
          <a:xfrm>
            <a:off x="7027517" y="1788531"/>
            <a:ext cx="3301447" cy="74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Все статьи-кандидаты из датасета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B70A1C-AA6E-A8BA-BD31-305CB252DC43}"/>
              </a:ext>
            </a:extLst>
          </p:cNvPr>
          <p:cNvSpPr/>
          <p:nvPr/>
        </p:nvSpPr>
        <p:spPr>
          <a:xfrm>
            <a:off x="1863035" y="1788532"/>
            <a:ext cx="3301447" cy="74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Исходная статья (</a:t>
            </a:r>
            <a:r>
              <a:rPr lang="en-GB" dirty="0">
                <a:latin typeface="Helvetica" pitchFamily="2" charset="0"/>
              </a:rPr>
              <a:t>query article)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316FF45-8AD9-0451-ECCB-2A89E8B88018}"/>
              </a:ext>
            </a:extLst>
          </p:cNvPr>
          <p:cNvSpPr/>
          <p:nvPr/>
        </p:nvSpPr>
        <p:spPr>
          <a:xfrm>
            <a:off x="4445277" y="2739144"/>
            <a:ext cx="3301447" cy="74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Формирование пар (</a:t>
            </a:r>
            <a:r>
              <a:rPr lang="en-GB" dirty="0">
                <a:latin typeface="Helvetica" pitchFamily="2" charset="0"/>
              </a:rPr>
              <a:t>query, candidate</a:t>
            </a:r>
            <a:r>
              <a:rPr lang="en-GB" baseline="-25000" dirty="0">
                <a:latin typeface="Helvetica" pitchFamily="2" charset="0"/>
              </a:rPr>
              <a:t>i</a:t>
            </a:r>
            <a:r>
              <a:rPr lang="en-GB" dirty="0">
                <a:latin typeface="Helvetica" pitchFamily="2" charset="0"/>
              </a:rPr>
              <a:t>)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05498A-4FF3-A75A-A5ED-B29C90E543AE}"/>
              </a:ext>
            </a:extLst>
          </p:cNvPr>
          <p:cNvSpPr/>
          <p:nvPr/>
        </p:nvSpPr>
        <p:spPr>
          <a:xfrm>
            <a:off x="4445277" y="3711794"/>
            <a:ext cx="3301447" cy="74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Извлечение признаков для каждой пары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EA91D9-3657-31A2-4AC0-8B57684750A8}"/>
              </a:ext>
            </a:extLst>
          </p:cNvPr>
          <p:cNvSpPr/>
          <p:nvPr/>
        </p:nvSpPr>
        <p:spPr>
          <a:xfrm>
            <a:off x="4445277" y="4684444"/>
            <a:ext cx="3301447" cy="74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Helvetica" pitchFamily="2" charset="0"/>
              </a:rPr>
              <a:t>MLP-</a:t>
            </a:r>
            <a:r>
              <a:rPr lang="ru-RU" dirty="0">
                <a:latin typeface="Helvetica" pitchFamily="2" charset="0"/>
              </a:rPr>
              <a:t>ранжировщик</a:t>
            </a:r>
          </a:p>
          <a:p>
            <a:pPr algn="ctr"/>
            <a:r>
              <a:rPr lang="en-GB" dirty="0">
                <a:latin typeface="Helvetica" pitchFamily="2" charset="0"/>
              </a:rPr>
              <a:t>score</a:t>
            </a:r>
            <a:r>
              <a:rPr lang="en-GB" baseline="-25000" dirty="0">
                <a:latin typeface="Helvetica" pitchFamily="2" charset="0"/>
              </a:rPr>
              <a:t>i</a:t>
            </a:r>
            <a:r>
              <a:rPr lang="en-GB" dirty="0">
                <a:latin typeface="Helvetica" pitchFamily="2" charset="0"/>
              </a:rPr>
              <a:t> = MLP(features</a:t>
            </a:r>
            <a:r>
              <a:rPr lang="en-GB" baseline="-25000" dirty="0">
                <a:latin typeface="Helvetica" pitchFamily="2" charset="0"/>
              </a:rPr>
              <a:t>i</a:t>
            </a:r>
            <a:r>
              <a:rPr lang="en-GB" dirty="0">
                <a:latin typeface="Helvetica" pitchFamily="2" charset="0"/>
              </a:rPr>
              <a:t>)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8B7291-2412-7E63-F22F-20A222212BBA}"/>
              </a:ext>
            </a:extLst>
          </p:cNvPr>
          <p:cNvSpPr/>
          <p:nvPr/>
        </p:nvSpPr>
        <p:spPr>
          <a:xfrm>
            <a:off x="4445277" y="5657094"/>
            <a:ext cx="3301447" cy="749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Сортировка кандидатов по </a:t>
            </a:r>
            <a:r>
              <a:rPr lang="en-GB" dirty="0">
                <a:latin typeface="Helvetica" pitchFamily="2" charset="0"/>
              </a:rPr>
              <a:t>score</a:t>
            </a:r>
            <a:r>
              <a:rPr lang="en-GB" baseline="-25000" dirty="0">
                <a:latin typeface="Helvetica" pitchFamily="2" charset="0"/>
              </a:rPr>
              <a:t>i</a:t>
            </a:r>
            <a:endParaRPr lang="en-RU" baseline="-25000" dirty="0">
              <a:latin typeface="Helvetica" pitchFamily="2" charset="0"/>
            </a:endParaRPr>
          </a:p>
        </p:txBody>
      </p: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D61CF297-3241-B4E8-5661-E04A7FC4B0A2}"/>
              </a:ext>
            </a:extLst>
          </p:cNvPr>
          <p:cNvCxnSpPr>
            <a:stCxn id="27" idx="2"/>
            <a:endCxn id="29" idx="3"/>
          </p:cNvCxnSpPr>
          <p:nvPr/>
        </p:nvCxnSpPr>
        <p:spPr>
          <a:xfrm rot="5400000">
            <a:off x="7924651" y="2360504"/>
            <a:ext cx="575664" cy="931517"/>
          </a:xfrm>
          <a:prstGeom prst="curvedConnector2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86F6681C-BE62-82F3-FC18-9B1294480822}"/>
              </a:ext>
            </a:extLst>
          </p:cNvPr>
          <p:cNvCxnSpPr>
            <a:stCxn id="28" idx="2"/>
            <a:endCxn id="29" idx="1"/>
          </p:cNvCxnSpPr>
          <p:nvPr/>
        </p:nvCxnSpPr>
        <p:spPr>
          <a:xfrm rot="16200000" flipH="1">
            <a:off x="3691687" y="2360503"/>
            <a:ext cx="575663" cy="931518"/>
          </a:xfrm>
          <a:prstGeom prst="curvedConnector2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807FBDB-86A1-B031-1113-E05CCB0757BA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6096001" y="3489043"/>
            <a:ext cx="0" cy="22275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DDE7FE-A84D-0FA3-D326-A016EED3A29D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6096001" y="4461693"/>
            <a:ext cx="0" cy="22275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CBA036-82AB-5FA0-7606-A7F249C15B35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6096001" y="5434343"/>
            <a:ext cx="0" cy="222751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793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2AD8-5883-A729-ABA2-EA4F4AF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Рекомендательная нейросеть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0A19D-0E18-2A28-8AEC-8741377E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12</a:t>
            </a:fld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9BA7-AD0A-B071-7764-9BB6AFB06282}"/>
              </a:ext>
            </a:extLst>
          </p:cNvPr>
          <p:cNvSpPr txBox="1"/>
          <p:nvPr/>
        </p:nvSpPr>
        <p:spPr>
          <a:xfrm>
            <a:off x="336368" y="1509854"/>
            <a:ext cx="1132520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300" b="1" dirty="0">
                <a:latin typeface="Helvetica" pitchFamily="2" charset="0"/>
              </a:rPr>
              <a:t>Входной запрос:</a:t>
            </a:r>
          </a:p>
          <a:p>
            <a:r>
              <a:rPr lang="ru-RU" sz="2300" u="sng" dirty="0">
                <a:latin typeface="Helvetica" pitchFamily="2" charset="0"/>
              </a:rPr>
              <a:t>Тема</a:t>
            </a:r>
            <a:r>
              <a:rPr lang="ru-RU" sz="2300" dirty="0">
                <a:latin typeface="Helvetica" pitchFamily="2" charset="0"/>
              </a:rPr>
              <a:t>: история и развитие </a:t>
            </a:r>
            <a:r>
              <a:rPr lang="en-GB" sz="2300" dirty="0">
                <a:latin typeface="Helvetica" pitchFamily="2" charset="0"/>
              </a:rPr>
              <a:t>HPC-</a:t>
            </a:r>
            <a:r>
              <a:rPr lang="ru-RU" sz="2300" dirty="0">
                <a:latin typeface="Helvetica" pitchFamily="2" charset="0"/>
              </a:rPr>
              <a:t>кластеров, </a:t>
            </a:r>
            <a:r>
              <a:rPr lang="en-GB" sz="2300" dirty="0">
                <a:latin typeface="Helvetica" pitchFamily="2" charset="0"/>
              </a:rPr>
              <a:t>Beowulf-</a:t>
            </a:r>
            <a:r>
              <a:rPr lang="ru-RU" sz="2300" dirty="0">
                <a:latin typeface="Helvetica" pitchFamily="2" charset="0"/>
              </a:rPr>
              <a:t>архитектура, </a:t>
            </a:r>
            <a:r>
              <a:rPr lang="en-GB" sz="2300" dirty="0">
                <a:latin typeface="Helvetica" pitchFamily="2" charset="0"/>
              </a:rPr>
              <a:t>Linux-based parallel computing,</a:t>
            </a:r>
            <a:r>
              <a:rPr lang="ru-RU" sz="2300" dirty="0">
                <a:latin typeface="Helvetica" pitchFamily="2" charset="0"/>
              </a:rPr>
              <a:t> стоимость и доступность суперкомпьютеров.</a:t>
            </a:r>
          </a:p>
          <a:p>
            <a:r>
              <a:rPr lang="en-GB" sz="2300" b="1" dirty="0">
                <a:latin typeface="Helvetica" pitchFamily="2" charset="0"/>
              </a:rPr>
              <a:t>Top-5 </a:t>
            </a:r>
            <a:r>
              <a:rPr lang="ru-RU" sz="2300" b="1" dirty="0">
                <a:latin typeface="Helvetica" pitchFamily="2" charset="0"/>
              </a:rPr>
              <a:t>релевантных публикаций:</a:t>
            </a:r>
          </a:p>
          <a:p>
            <a:r>
              <a:rPr lang="en-GB" sz="2300" dirty="0">
                <a:latin typeface="Helvetica" pitchFamily="2" charset="0"/>
              </a:rPr>
              <a:t>1. Comparing Clusters and Supercomputers for Lattice QCD</a:t>
            </a:r>
          </a:p>
          <a:p>
            <a:r>
              <a:rPr lang="en-GB" sz="2300" dirty="0">
                <a:latin typeface="Helvetica" pitchFamily="2" charset="0"/>
              </a:rPr>
              <a:t>   </a:t>
            </a:r>
            <a:r>
              <a:rPr lang="ru-RU" sz="2300" u="sng" dirty="0">
                <a:latin typeface="Helvetica" pitchFamily="2" charset="0"/>
              </a:rPr>
              <a:t>Тема</a:t>
            </a:r>
            <a:r>
              <a:rPr lang="ru-RU" sz="2300" dirty="0">
                <a:latin typeface="Helvetica" pitchFamily="2" charset="0"/>
              </a:rPr>
              <a:t>: </a:t>
            </a:r>
            <a:r>
              <a:rPr lang="en-GB" sz="2300" dirty="0">
                <a:latin typeface="Helvetica" pitchFamily="2" charset="0"/>
              </a:rPr>
              <a:t>Beowulf clusters, parallel computing</a:t>
            </a:r>
          </a:p>
          <a:p>
            <a:r>
              <a:rPr lang="en-GB" sz="2300" dirty="0">
                <a:latin typeface="Helvetica" pitchFamily="2" charset="0"/>
              </a:rPr>
              <a:t>2. Cost-Effective Clustering</a:t>
            </a:r>
          </a:p>
          <a:p>
            <a:r>
              <a:rPr lang="en-GB" sz="2300" dirty="0">
                <a:latin typeface="Helvetica" pitchFamily="2" charset="0"/>
              </a:rPr>
              <a:t>   </a:t>
            </a:r>
            <a:r>
              <a:rPr lang="ru-RU" sz="2300" u="sng" dirty="0">
                <a:latin typeface="Helvetica" pitchFamily="2" charset="0"/>
              </a:rPr>
              <a:t>Тема</a:t>
            </a:r>
            <a:r>
              <a:rPr lang="ru-RU" sz="2300" dirty="0">
                <a:latin typeface="Helvetica" pitchFamily="2" charset="0"/>
              </a:rPr>
              <a:t>: </a:t>
            </a:r>
            <a:r>
              <a:rPr lang="en-GB" sz="2300" dirty="0">
                <a:latin typeface="Helvetica" pitchFamily="2" charset="0"/>
              </a:rPr>
              <a:t>small Beowulf clusters, benchmarking</a:t>
            </a:r>
          </a:p>
          <a:p>
            <a:r>
              <a:rPr lang="en-GB" sz="2300" dirty="0">
                <a:latin typeface="Helvetica" pitchFamily="2" charset="0"/>
              </a:rPr>
              <a:t>3. High Performance Beowulf Computer for Lattice QCD</a:t>
            </a:r>
          </a:p>
          <a:p>
            <a:r>
              <a:rPr lang="en-GB" sz="2300" dirty="0">
                <a:latin typeface="Helvetica" pitchFamily="2" charset="0"/>
              </a:rPr>
              <a:t>   </a:t>
            </a:r>
            <a:r>
              <a:rPr lang="ru-RU" sz="2300" u="sng" dirty="0">
                <a:latin typeface="Helvetica" pitchFamily="2" charset="0"/>
              </a:rPr>
              <a:t>Тема</a:t>
            </a:r>
            <a:r>
              <a:rPr lang="ru-RU" sz="2300" dirty="0">
                <a:latin typeface="Helvetica" pitchFamily="2" charset="0"/>
              </a:rPr>
              <a:t>: </a:t>
            </a:r>
            <a:r>
              <a:rPr lang="en-GB" sz="2300" dirty="0">
                <a:latin typeface="Helvetica" pitchFamily="2" charset="0"/>
              </a:rPr>
              <a:t>PC clusters, high performance parallel computer</a:t>
            </a:r>
          </a:p>
          <a:p>
            <a:r>
              <a:rPr lang="en-GB" sz="2300" dirty="0">
                <a:latin typeface="Helvetica" pitchFamily="2" charset="0"/>
              </a:rPr>
              <a:t>4. Nimrod/G: Resource Management in a Global Computational Grid</a:t>
            </a:r>
          </a:p>
          <a:p>
            <a:r>
              <a:rPr lang="en-GB" sz="2300" dirty="0">
                <a:latin typeface="Helvetica" pitchFamily="2" charset="0"/>
              </a:rPr>
              <a:t>   </a:t>
            </a:r>
            <a:r>
              <a:rPr lang="ru-RU" sz="2300" u="sng" dirty="0">
                <a:latin typeface="Helvetica" pitchFamily="2" charset="0"/>
              </a:rPr>
              <a:t>Тема</a:t>
            </a:r>
            <a:r>
              <a:rPr lang="ru-RU" sz="2300" dirty="0">
                <a:latin typeface="Helvetica" pitchFamily="2" charset="0"/>
              </a:rPr>
              <a:t>: </a:t>
            </a:r>
            <a:r>
              <a:rPr lang="en-GB" sz="2300" dirty="0">
                <a:latin typeface="Helvetica" pitchFamily="2" charset="0"/>
              </a:rPr>
              <a:t>distributed systems, wide-area cluster computing</a:t>
            </a:r>
          </a:p>
          <a:p>
            <a:r>
              <a:rPr lang="en-GB" sz="2300" dirty="0">
                <a:latin typeface="Helvetica" pitchFamily="2" charset="0"/>
              </a:rPr>
              <a:t>5. DiFX: Software Correlator for VLBI</a:t>
            </a:r>
          </a:p>
          <a:p>
            <a:r>
              <a:rPr lang="en-GB" sz="2300" dirty="0">
                <a:latin typeface="Helvetica" pitchFamily="2" charset="0"/>
              </a:rPr>
              <a:t>   </a:t>
            </a:r>
            <a:r>
              <a:rPr lang="ru-RU" sz="2300" u="sng" dirty="0">
                <a:latin typeface="Helvetica" pitchFamily="2" charset="0"/>
              </a:rPr>
              <a:t>Тема</a:t>
            </a:r>
            <a:r>
              <a:rPr lang="ru-RU" sz="2300" dirty="0">
                <a:latin typeface="Helvetica" pitchFamily="2" charset="0"/>
              </a:rPr>
              <a:t>: </a:t>
            </a:r>
            <a:r>
              <a:rPr lang="en-GB" sz="2300" dirty="0">
                <a:latin typeface="Helvetica" pitchFamily="2" charset="0"/>
              </a:rPr>
              <a:t>multi-processor computing environments</a:t>
            </a:r>
          </a:p>
        </p:txBody>
      </p:sp>
    </p:spTree>
    <p:extLst>
      <p:ext uri="{BB962C8B-B14F-4D97-AF65-F5344CB8AC3E}">
        <p14:creationId xmlns:p14="http://schemas.microsoft.com/office/powerpoint/2010/main" val="4179256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2AD8-5883-A729-ABA2-EA4F4AF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Рекомендательная нейросеть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0A19D-0E18-2A28-8AEC-8741377E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13</a:t>
            </a:fld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9BA7-AD0A-B071-7764-9BB6AFB06282}"/>
              </a:ext>
            </a:extLst>
          </p:cNvPr>
          <p:cNvSpPr txBox="1"/>
          <p:nvPr/>
        </p:nvSpPr>
        <p:spPr>
          <a:xfrm>
            <a:off x="336368" y="1509854"/>
            <a:ext cx="115192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Helvetica" pitchFamily="2" charset="0"/>
              </a:rPr>
              <a:t>Релевантные площадки вычисляются как наиболее часто встречаемые в </a:t>
            </a:r>
            <a:r>
              <a:rPr lang="en-US" sz="2400" dirty="0">
                <a:latin typeface="Helvetica" pitchFamily="2" charset="0"/>
              </a:rPr>
              <a:t>top-</a:t>
            </a:r>
            <a:r>
              <a:rPr lang="ru-RU" sz="2400" dirty="0">
                <a:latin typeface="Helvetica" pitchFamily="2" charset="0"/>
              </a:rPr>
              <a:t>100 самых похожих публикациях:</a:t>
            </a:r>
          </a:p>
          <a:p>
            <a:endParaRPr lang="ru-RU" sz="2400" dirty="0">
              <a:latin typeface="Helvetica" pitchFamily="2" charset="0"/>
            </a:endParaRPr>
          </a:p>
          <a:p>
            <a:r>
              <a:rPr lang="ru-RU" sz="2400" dirty="0">
                <a:latin typeface="Helvetica" pitchFamily="2" charset="0"/>
              </a:rPr>
              <a:t>1. </a:t>
            </a:r>
            <a:r>
              <a:rPr lang="en-GB" sz="2400" dirty="0">
                <a:latin typeface="Helvetica" pitchFamily="2" charset="0"/>
              </a:rPr>
              <a:t>SC Conference</a:t>
            </a:r>
            <a:br>
              <a:rPr lang="en-GB" sz="2400" dirty="0">
                <a:latin typeface="Helvetica" pitchFamily="2" charset="0"/>
              </a:rPr>
            </a:br>
            <a:r>
              <a:rPr lang="ru-RU" sz="2400" dirty="0">
                <a:latin typeface="Helvetica" pitchFamily="2" charset="0"/>
              </a:rPr>
              <a:t>2. </a:t>
            </a:r>
            <a:r>
              <a:rPr lang="en-GB" sz="2400" dirty="0">
                <a:latin typeface="Helvetica" pitchFamily="2" charset="0"/>
              </a:rPr>
              <a:t>IEEE Cluster</a:t>
            </a:r>
            <a:br>
              <a:rPr lang="en-GB" sz="2400" dirty="0">
                <a:latin typeface="Helvetica" pitchFamily="2" charset="0"/>
              </a:rPr>
            </a:br>
            <a:r>
              <a:rPr lang="ru-RU" sz="2400" dirty="0">
                <a:latin typeface="Helvetica" pitchFamily="2" charset="0"/>
              </a:rPr>
              <a:t>3. </a:t>
            </a:r>
            <a:r>
              <a:rPr lang="en-GB" sz="2400" dirty="0">
                <a:latin typeface="Helvetica" pitchFamily="2" charset="0"/>
              </a:rPr>
              <a:t>HPDC</a:t>
            </a:r>
            <a:endParaRPr lang="ru-RU" sz="2400" dirty="0">
              <a:latin typeface="Helvetica" pitchFamily="2" charset="0"/>
            </a:endParaRPr>
          </a:p>
          <a:p>
            <a:r>
              <a:rPr lang="ru-RU" sz="2400" dirty="0">
                <a:latin typeface="Helvetica" pitchFamily="2" charset="0"/>
              </a:rPr>
              <a:t>4. </a:t>
            </a:r>
            <a:r>
              <a:rPr lang="en-GB" sz="2400" dirty="0">
                <a:latin typeface="Helvetica" pitchFamily="2" charset="0"/>
              </a:rPr>
              <a:t>IPDPS</a:t>
            </a:r>
            <a:br>
              <a:rPr lang="en-GB" sz="2400" dirty="0">
                <a:latin typeface="Helvetica" pitchFamily="2" charset="0"/>
              </a:rPr>
            </a:br>
            <a:r>
              <a:rPr lang="ru-RU" sz="2400" dirty="0">
                <a:latin typeface="Helvetica" pitchFamily="2" charset="0"/>
              </a:rPr>
              <a:t>5. </a:t>
            </a:r>
            <a:r>
              <a:rPr lang="en-GB" sz="2400" dirty="0">
                <a:latin typeface="Helvetica" pitchFamily="2" charset="0"/>
              </a:rPr>
              <a:t>ICS</a:t>
            </a:r>
            <a:endParaRPr lang="en-US" sz="2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115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2AD8-5883-A729-ABA2-EA4F4AF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Программная реализация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0A19D-0E18-2A28-8AEC-8741377E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14</a:t>
            </a:fld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9BA7-AD0A-B071-7764-9BB6AFB06282}"/>
              </a:ext>
            </a:extLst>
          </p:cNvPr>
          <p:cNvSpPr txBox="1"/>
          <p:nvPr/>
        </p:nvSpPr>
        <p:spPr>
          <a:xfrm>
            <a:off x="336368" y="1509854"/>
            <a:ext cx="11519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P</a:t>
            </a:r>
            <a:r>
              <a:rPr lang="en-US" sz="2400" dirty="0">
                <a:latin typeface="Helvetica" pitchFamily="2" charset="0"/>
              </a:rPr>
              <a:t>yTorch, allennlp – ос</a:t>
            </a:r>
            <a:r>
              <a:rPr lang="ru-RU" sz="2400" dirty="0">
                <a:latin typeface="Helvetica" pitchFamily="2" charset="0"/>
              </a:rPr>
              <a:t>новные фреймворки.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t</a:t>
            </a:r>
            <a:r>
              <a:rPr lang="en-US" sz="2400" dirty="0">
                <a:latin typeface="Helvetica" pitchFamily="2" charset="0"/>
              </a:rPr>
              <a:t>ransformers – </a:t>
            </a:r>
            <a:r>
              <a:rPr lang="ru-RU" sz="2400" dirty="0">
                <a:latin typeface="Helvetica" pitchFamily="2" charset="0"/>
              </a:rPr>
              <a:t>работа с </a:t>
            </a:r>
            <a:r>
              <a:rPr lang="en-GB" sz="2400" dirty="0">
                <a:latin typeface="Helvetica" pitchFamily="2" charset="0"/>
              </a:rPr>
              <a:t>BERT, SciBERT, SPECTER</a:t>
            </a:r>
            <a:endParaRPr lang="ru-RU" sz="2400" dirty="0">
              <a:latin typeface="Helvetica" pitchFamily="2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Helvetica" pitchFamily="2" charset="0"/>
              </a:rPr>
              <a:t>pandas, csv, json — </a:t>
            </a:r>
            <a:r>
              <a:rPr lang="ru-RU" sz="2400" dirty="0">
                <a:latin typeface="Helvetica" pitchFamily="2" charset="0"/>
              </a:rPr>
              <a:t>обработка и хранение табличных данных</a:t>
            </a:r>
            <a:r>
              <a:rPr lang="en-US" sz="2400" dirty="0">
                <a:latin typeface="Helvetica" pitchFamily="2" charset="0"/>
              </a:rPr>
              <a:t>.</a:t>
            </a:r>
            <a:endParaRPr lang="ru-RU" sz="2400" dirty="0">
              <a:latin typeface="Helvetica" pitchFamily="2" charset="0"/>
            </a:endParaRPr>
          </a:p>
          <a:p>
            <a:pPr marL="457200" indent="-457200">
              <a:buAutoNum type="arabicPeriod"/>
            </a:pPr>
            <a:r>
              <a:rPr lang="en-US" sz="2400" dirty="0">
                <a:latin typeface="Helvetica" pitchFamily="2" charset="0"/>
              </a:rPr>
              <a:t>aiohttp, asyncio — </a:t>
            </a:r>
            <a:r>
              <a:rPr lang="ru-RU" sz="2400" dirty="0">
                <a:latin typeface="Helvetica" pitchFamily="2" charset="0"/>
              </a:rPr>
              <a:t>асинхронная загрузка метаданных из </a:t>
            </a:r>
            <a:r>
              <a:rPr lang="en-US" sz="2400" dirty="0">
                <a:latin typeface="Helvetica" pitchFamily="2" charset="0"/>
              </a:rPr>
              <a:t>OpenAlex.</a:t>
            </a:r>
            <a:endParaRPr lang="ru-RU" sz="2400" dirty="0">
              <a:latin typeface="Helvetica" pitchFamily="2" charset="0"/>
            </a:endParaRPr>
          </a:p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Метод поддерживает обучение и инференс как на G</a:t>
            </a:r>
            <a:r>
              <a:rPr lang="en-US" sz="2400" dirty="0">
                <a:latin typeface="Helvetica" pitchFamily="2" charset="0"/>
              </a:rPr>
              <a:t>PU, т</a:t>
            </a:r>
            <a:r>
              <a:rPr lang="ru-RU" sz="2400" dirty="0">
                <a:latin typeface="Helvetica" pitchFamily="2" charset="0"/>
              </a:rPr>
              <a:t>ак и на C</a:t>
            </a:r>
            <a:r>
              <a:rPr lang="en-US" sz="2400" dirty="0">
                <a:latin typeface="Helvetica" pitchFamily="2" charset="0"/>
              </a:rPr>
              <a:t>PU.</a:t>
            </a:r>
          </a:p>
          <a:p>
            <a:endParaRPr lang="ru-RU" sz="2400" dirty="0">
              <a:latin typeface="Helvetica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7479EB-3A57-DD5C-57E0-4EAED3D2AD1C}"/>
              </a:ext>
            </a:extLst>
          </p:cNvPr>
          <p:cNvSpPr/>
          <p:nvPr/>
        </p:nvSpPr>
        <p:spPr>
          <a:xfrm>
            <a:off x="345435" y="3734095"/>
            <a:ext cx="2694129" cy="1304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Корпус данных о публикационной активности в требуемой сфере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87BA4-DF25-D1D8-E630-F97A1000B949}"/>
              </a:ext>
            </a:extLst>
          </p:cNvPr>
          <p:cNvSpPr/>
          <p:nvPr/>
        </p:nvSpPr>
        <p:spPr>
          <a:xfrm>
            <a:off x="3284124" y="3734095"/>
            <a:ext cx="2694129" cy="1304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Признаки, полученные с помощью улучшенной модели </a:t>
            </a:r>
            <a:r>
              <a:rPr lang="en-US" dirty="0">
                <a:latin typeface="Helvetica" pitchFamily="2" charset="0"/>
              </a:rPr>
              <a:t>SPECTER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BBB534-D93D-9032-E6C0-046644681C19}"/>
              </a:ext>
            </a:extLst>
          </p:cNvPr>
          <p:cNvSpPr/>
          <p:nvPr/>
        </p:nvSpPr>
        <p:spPr>
          <a:xfrm>
            <a:off x="6222813" y="4612060"/>
            <a:ext cx="2694129" cy="1304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Рекомендательная нейросеть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5695DD-59D7-9972-306F-0CA072F65D08}"/>
              </a:ext>
            </a:extLst>
          </p:cNvPr>
          <p:cNvSpPr/>
          <p:nvPr/>
        </p:nvSpPr>
        <p:spPr>
          <a:xfrm>
            <a:off x="3284124" y="5333386"/>
            <a:ext cx="2694129" cy="1304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Текстовое описание новой статьи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15916A-F2B4-5BF1-DED1-39B5E147BB98}"/>
              </a:ext>
            </a:extLst>
          </p:cNvPr>
          <p:cNvSpPr/>
          <p:nvPr/>
        </p:nvSpPr>
        <p:spPr>
          <a:xfrm>
            <a:off x="9161502" y="4616340"/>
            <a:ext cx="2694129" cy="1304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Helvetica" pitchFamily="2" charset="0"/>
              </a:rPr>
              <a:t>Ранжированный список релевантных публикаций и площадок</a:t>
            </a:r>
            <a:endParaRPr lang="en-RU" dirty="0">
              <a:latin typeface="Helvetica" pitchFamily="2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2F6440-B788-A533-35CA-B984B1F68442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3039564" y="4386098"/>
            <a:ext cx="244560" cy="0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BAF907-E5BC-3F14-7EA8-DF35200DCAA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78253" y="4386098"/>
            <a:ext cx="244560" cy="830826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731347-1A08-F15B-1D4B-6A4B38A24D12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5978253" y="5264063"/>
            <a:ext cx="244560" cy="721326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0C0C6D-C4A8-7920-5F64-7C9052477F6D}"/>
              </a:ext>
            </a:extLst>
          </p:cNvPr>
          <p:cNvCxnSpPr/>
          <p:nvPr/>
        </p:nvCxnSpPr>
        <p:spPr>
          <a:xfrm>
            <a:off x="8916942" y="5309716"/>
            <a:ext cx="244560" cy="0"/>
          </a:xfrm>
          <a:prstGeom prst="straightConnector1">
            <a:avLst/>
          </a:prstGeom>
          <a:ln w="28575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977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2AD8-5883-A729-ABA2-EA4F4AF7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Helvetica" pitchFamily="2" charset="0"/>
              </a:rPr>
              <a:t>Заключение</a:t>
            </a:r>
            <a:endParaRPr lang="en-RU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0A19D-0E18-2A28-8AEC-8741377E0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D69E0-A2D3-A140-A5F2-A70976275131}" type="slidenum">
              <a:rPr lang="en-RU" smtClean="0"/>
              <a:t>15</a:t>
            </a:fld>
            <a:endParaRPr lang="en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9BA7-AD0A-B071-7764-9BB6AFB06282}"/>
              </a:ext>
            </a:extLst>
          </p:cNvPr>
          <p:cNvSpPr txBox="1"/>
          <p:nvPr/>
        </p:nvSpPr>
        <p:spPr>
          <a:xfrm>
            <a:off x="336368" y="1509854"/>
            <a:ext cx="115192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Сформирован и обогащён корпус публикаций в области </a:t>
            </a:r>
            <a:r>
              <a:rPr lang="en-GB" sz="2400" dirty="0">
                <a:latin typeface="Helvetica" pitchFamily="2" charset="0"/>
              </a:rPr>
              <a:t>HPC.</a:t>
            </a:r>
            <a:endParaRPr lang="ru-RU" sz="2400" dirty="0">
              <a:latin typeface="Helvetica" pitchFamily="2" charset="0"/>
            </a:endParaRPr>
          </a:p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Построены графы цитирования и авторства для формирования обучающих примеров.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Реализована двухэтапная схема дообучения модели эмбеддингов: сначала на связях цитирования, затем на связях авторства.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Экспериментально показано, что добавление графа авторства улучшает качество рекомендаций.</a:t>
            </a:r>
          </a:p>
          <a:p>
            <a:pPr marL="457200" indent="-457200">
              <a:buFontTx/>
              <a:buAutoNum type="arabicPeriod"/>
            </a:pPr>
            <a:r>
              <a:rPr lang="ru-RU" sz="2400" dirty="0">
                <a:latin typeface="Helvetica" pitchFamily="2" charset="0"/>
              </a:rPr>
              <a:t>Реализована модель ранжирования публикаций по текстовому запросу.</a:t>
            </a:r>
          </a:p>
          <a:p>
            <a:pPr marL="457200" indent="-457200">
              <a:buAutoNum type="arabicPeriod"/>
            </a:pPr>
            <a:r>
              <a:rPr lang="ru-RU" sz="2400" dirty="0">
                <a:latin typeface="Helvetica" pitchFamily="2" charset="0"/>
              </a:rPr>
              <a:t>Полученная система формирует список релевантных публикаций и рекомендуемых научных площадок.</a:t>
            </a:r>
          </a:p>
          <a:p>
            <a:pPr marL="457200" indent="-457200">
              <a:buAutoNum type="arabicPeriod"/>
            </a:pPr>
            <a:endParaRPr lang="en-GB" sz="2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28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7131</TotalTime>
  <Words>1013</Words>
  <Application>Microsoft Macintosh PowerPoint</Application>
  <PresentationFormat>Widescreen</PresentationFormat>
  <Paragraphs>140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Helvetica</vt:lpstr>
      <vt:lpstr>Office Theme</vt:lpstr>
      <vt:lpstr>PowerPoint Presentation</vt:lpstr>
      <vt:lpstr>Цель работы</vt:lpstr>
      <vt:lpstr>PowerPoint Presentation</vt:lpstr>
      <vt:lpstr>Задачи ВКР</vt:lpstr>
      <vt:lpstr>Формальная постановка задачи ВКР</vt:lpstr>
      <vt:lpstr>Предложенный подход</vt:lpstr>
      <vt:lpstr>Сбор данных по HPC</vt:lpstr>
      <vt:lpstr>Графовое представление связей между публикациями</vt:lpstr>
      <vt:lpstr>Основная идея обучения SPECTER</vt:lpstr>
      <vt:lpstr>Сравнение качества модели до и после дообучения, оригинальный датасет</vt:lpstr>
      <vt:lpstr>Сравнение качества модели до и после дообучения, датасет HPC</vt:lpstr>
      <vt:lpstr>Рекомендательная нейросеть</vt:lpstr>
      <vt:lpstr>Рекомендательная нейросеть</vt:lpstr>
      <vt:lpstr>Рекомендательная нейросеть</vt:lpstr>
      <vt:lpstr>Программная реализация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предиктивных алгоритмов для анализа публикационной активности в области высокопроизводительных вычислений </dc:title>
  <dc:creator>Микаэла Акопян</dc:creator>
  <cp:lastModifiedBy>Микаэла Акопян</cp:lastModifiedBy>
  <cp:revision>140</cp:revision>
  <dcterms:created xsi:type="dcterms:W3CDTF">2026-03-16T14:17:59Z</dcterms:created>
  <dcterms:modified xsi:type="dcterms:W3CDTF">2026-04-24T04:18:43Z</dcterms:modified>
</cp:coreProperties>
</file>